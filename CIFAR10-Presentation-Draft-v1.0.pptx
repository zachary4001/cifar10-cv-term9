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&amp; Approach
SCRIPT:
"We're all working with the same CIFAR-10 dataset — 10 classes, 32×32 pixels. And if you've looked at those images, you know how hard they are — even for humans. A cat and a deer at 32 pixels look almost identical.
The question I wanted to explore wasn't just 'can we hit a high accuracy number' — it was: what actually drives performance in this kind of problem? Is it the pretrained weights? The architecture? The data volume? The layer selection strategy?
So I ran two parallel tracks. Track 1 uses ResNet50 with ImageNet pretrained weights — the standard transfer learning approach, but with the upscaling problem baked in. Track 2 starts from zero — custom architecture, native 32×32, no pretrained knowledge. Same dataset, same methodology, same train/val splits.
The gap between them tells the story."
ANIMATION NOTE: Reveal Track 1 block first, then Track 2 block, then the VS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Track 1: Transfer Learning
SCRIPT:
"ResNet50 comes with pretrained weights from ImageNet — 1.2 million images. Those weights encode an enormous amount of visual knowledge: edges in conv1, textures in layer1, shapes in layer2, and increasingly specific object concepts as you go deeper.
The first question was: how much of that knowledge do we need to unlock for CIFAR-10?
[ANIMATE: reveal S7 row]
Starting with just the head trained — 78%. The frozen ImageNet features alone got us most of the way there.
[ANIMATE: reveal S8a]
Full unfreeze — 89.5%. Unlocking everything helped, but we also risked overwriting useful priors.
[ANIMATE: reveal S8b]
Layer4 only — 85.6%. Less than full unfreeze. Interesting.
[ANIMATE: reveal S11]
Layer3 only — 92.9%. That's our best result, and it tells us something important: layer3 detects complex spatial combinations — still general enough to adapt. Layer4 is too ImageNet-specific. When you upscale a 32-pixel image to 224, the artifacts land hardest in the high-frequency, high-level features that layer4 was trained to detect.
[ANIMATE: reveal insight callout]
Layer selection is a stronger performance lever than data volume — and the layer that matters most depends on what your data actually looks like."
ANIMATION NOTE: Reveal each run row sequentially as discussed. Reveal insight callout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Track 2: From Scratch
SCRIPT:
"Taking what we learned from Track 1 — especially about the upscaling problem — the question became: what happens if we eliminate the architectural mismatch entirely?
[ANIMATE: left panel appears]
The standard ResNet50 stem uses a 7×7 convolution with aggressive pooling — designed for 224px images. On 32 pixels, it collapses spatial context before the first residual block even fires. So we replaced it with a 3×3 stem, no max pooling, preserving every pixel of spatial information we have.
Everything else had to change too: no pretrained priors means no implicit regularization, so we added light dropout per block. No ImageNet weights means no assumed statistics, so CIFAR-10 native normalization. And Kaiming initialization — essential for training deep networks from scratch with ReLU activations.
[ANIMATE: reveal Phase 1]
10k images — 25%. And five classes stuck at 0%. The network was collapsing — defaulting to visually dominant classes because it had seen too little to differentiate.
[ANIMATE: reveal Phase 2]
35k — 49%. Cat and deer still at zero. They need more signal.
[ANIMATE: reveal Phase 3a]
50k — 75%. Class collapse resolves. Cat breaks through to 27%.
[ANIMATE: reveal Phase 3b]
Continued training — 81.2%. Cat reaches 63.6%. Early stopping fires at epoch 14.
Here's the thing that surprised me most: the big accuracy jumps happened in the LAST third of each epoch budget. Not early. The network needed time to consolidate low-level representations before higher-level ones could form. If we had stopped at epoch 10 and called it done, we would have missed the story entirely. min_delta was the key — it let training run long enough for that consolidation to happen."
ANIMATION NOTE: Reveal left panel first, then phase rows one at a time, then the learnings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What the Comparison Reveals
SCRIPT:
"So what does the comparison actually tell us?
[LET THEM READ THE TABLE — pause briefly]
The weakest classes are the same in both tracks. Cat, deer, dog — they're highlighted here. That's not a training problem. That's a dataset problem. 32 pixels is genuinely not enough to differentiate those classes reliably, regardless of how you train. Both tracks agree on that.
[POINT TO THE GAP]
The 11.7 percentage point gap between tracks — same dataset size, same architecture family, same methodology — that gap is the value of pretrained initialization. Not the data. Not the design. The starting point.
One thing I found interesting: the head-only run in Track 1 — 78% — is comparable to Phase 3a in Track 2 — 75%. So the frozen ImageNet features alone are roughly equivalent to training a full custom network on 50k images from scratch. That says something about how much representation comes 'for free' with pretrained weights.
[REVEAL GRADIENT TABLE]
This is new: gradient monitoring from Phase 3b. The stem is doing 8 to 10 times more work than any other layer throughout training — because it's receiving raw low-resolution pixels with no pretrained context. Layer4 stabilizes fastest. Which mirrors exactly what we found in Track 1 — layer4 is the first to stop learning.
What I really want to do now is rerun both tracks with gradient monitoring from the start — and compare those patterns directly. But —
[PAUSE — slight smile]
Experiment log: open."
ANIMATION NOTE: Pause after table is revealed. Reveal gradient table as a separate animation step. "Experiment log: open." can fade in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What's Next
SCRIPT:
"Four things I want to do next — in order of how much they'd teach us.
[ANIMATE: reveal item 01]
First: rerun both tracks with gradient monitoring from the start. We can now watch which layers are most active — and compare that pattern directly between upscaled 224px processing and native 32px. That comparison alone would be worth running.
[ANIMATE: reveal item 02]
Second: gradient-informed selective retraining. For Track 1, that's S13 — progressively unfreezing layer3, then layer3+4, then full, at the full 50k scale. For Track 2, the gradient data points clearly at the stem and layer1 as the highest-activity layers — so freeze everything else and retrain just those on the full dataset.
[ANIMATE: reveal item 03]
Third: batch size as a controlled variable. We saw different batch sizes across phases — but never held everything else constant. Does batch size change which layers adapt fastest?
[ANIMATE: reveal item 04]
And the biggest open question: can gradient monitoring replace pretrained priors as the signal for where to draw the freeze boundary? Because right now, we freeze early layers because we assume ImageNet priors make them universal. But what if gradient data could tell us the same thing — without needing ImageNet at all?
That's the experiment I want to run next."
ANIMATION NOTE: Reveal each wish list row one at a time as discussed in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Text 1"/>
          <p:cNvSpPr/>
          <p:nvPr/>
        </p:nvSpPr>
        <p:spPr>
          <a:xfrm>
            <a:off x="502920" y="640080"/>
            <a:ext cx="8229600" cy="914400"/>
          </a:xfrm>
          <a:prstGeom prst="rect">
            <a:avLst/>
          </a:prstGeom>
          <a:noFill/>
          <a:ln/>
        </p:spPr>
        <p:txBody>
          <a:bodyPr wrap="square" lIns="0" tIns="0" rIns="0" bIns="0" rtlCol="0" anchor="ctr"/>
          <a:lstStyle/>
          <a:p>
            <a:pPr indent="0" marL="0">
              <a:buNone/>
            </a:pPr>
            <a:r>
              <a:rPr lang="en-US" sz="5200" b="1" spc="400" kern="0" dirty="0">
                <a:solidFill>
                  <a:srgbClr val="02C39A"/>
                </a:solidFill>
                <a:latin typeface="Calibri" pitchFamily="34" charset="0"/>
                <a:ea typeface="Calibri" pitchFamily="34" charset="-122"/>
                <a:cs typeface="Calibri" pitchFamily="34" charset="-120"/>
              </a:rPr>
              <a:t>CIFAR-10</a:t>
            </a:r>
            <a:endParaRPr lang="en-US" sz="5200" dirty="0"/>
          </a:p>
        </p:txBody>
      </p:sp>
      <p:sp>
        <p:nvSpPr>
          <p:cNvPr id="4" name="Text 2"/>
          <p:cNvSpPr/>
          <p:nvPr/>
        </p:nvSpPr>
        <p:spPr>
          <a:xfrm>
            <a:off x="502920" y="1508760"/>
            <a:ext cx="7772400" cy="5943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Two-Track Classification Study</a:t>
            </a:r>
            <a:endParaRPr lang="en-US" sz="2600" dirty="0"/>
          </a:p>
        </p:txBody>
      </p:sp>
      <p:sp>
        <p:nvSpPr>
          <p:cNvPr id="5" name="Text 3"/>
          <p:cNvSpPr/>
          <p:nvPr/>
        </p:nvSpPr>
        <p:spPr>
          <a:xfrm>
            <a:off x="502920" y="2103120"/>
            <a:ext cx="7772400" cy="365760"/>
          </a:xfrm>
          <a:prstGeom prst="rect">
            <a:avLst/>
          </a:prstGeom>
          <a:noFill/>
          <a:ln/>
        </p:spPr>
        <p:txBody>
          <a:bodyPr wrap="square" lIns="0" tIns="0" rIns="0" bIns="0" rtlCol="0" anchor="ctr"/>
          <a:lstStyle/>
          <a:p>
            <a:pPr indent="0" marL="0">
              <a:buNone/>
            </a:pPr>
            <a:r>
              <a:rPr lang="en-US" sz="1400" i="1" dirty="0">
                <a:solidFill>
                  <a:srgbClr val="7A9BB5"/>
                </a:solidFill>
                <a:latin typeface="Calibri" pitchFamily="34" charset="0"/>
                <a:ea typeface="Calibri" pitchFamily="34" charset="-122"/>
                <a:cs typeface="Calibri" pitchFamily="34" charset="-120"/>
              </a:rPr>
              <a:t>Transfer Learning  ·  From Scratch  ·  What the Gap Reveals</a:t>
            </a:r>
            <a:endParaRPr lang="en-US" sz="1400" dirty="0"/>
          </a:p>
        </p:txBody>
      </p:sp>
      <p:sp>
        <p:nvSpPr>
          <p:cNvPr id="6" name="Shape 4"/>
          <p:cNvSpPr/>
          <p:nvPr/>
        </p:nvSpPr>
        <p:spPr>
          <a:xfrm>
            <a:off x="457200" y="2606040"/>
            <a:ext cx="7772400" cy="27432"/>
          </a:xfrm>
          <a:prstGeom prst="rect">
            <a:avLst/>
          </a:prstGeom>
          <a:solidFill>
            <a:srgbClr val="028090"/>
          </a:solidFill>
          <a:ln w="12700">
            <a:solidFill>
              <a:srgbClr val="028090"/>
            </a:solidFill>
            <a:prstDash val="solid"/>
          </a:ln>
        </p:spPr>
      </p:sp>
      <p:sp>
        <p:nvSpPr>
          <p:cNvPr id="7" name="Text 5"/>
          <p:cNvSpPr/>
          <p:nvPr/>
        </p:nvSpPr>
        <p:spPr>
          <a:xfrm>
            <a:off x="502920" y="2788920"/>
            <a:ext cx="3931920" cy="1371600"/>
          </a:xfrm>
          <a:prstGeom prst="rect">
            <a:avLst/>
          </a:prstGeom>
          <a:noFill/>
          <a:ln/>
        </p:spPr>
        <p:txBody>
          <a:bodyPr wrap="square" lIns="0" tIns="0" rIns="0" bIns="0" rtlCol="0" anchor="ctr"/>
          <a:lstStyle/>
          <a:p>
            <a:pPr indent="0" marL="0">
              <a:lnSpc>
                <a:spcPct val="140000"/>
              </a:lnSpc>
              <a:buNone/>
            </a:pPr>
            <a:r>
              <a:rPr lang="en-US" sz="1300" dirty="0">
                <a:solidFill>
                  <a:srgbClr val="C8D8E8"/>
                </a:solidFill>
                <a:latin typeface="Calibri" pitchFamily="34" charset="0"/>
                <a:ea typeface="Calibri" pitchFamily="34" charset="-122"/>
                <a:cs typeface="Calibri" pitchFamily="34" charset="-120"/>
              </a:rPr>
              <a:t>01  Problem &amp; Approach</a:t>
            </a:r>
            <a:endParaRPr lang="en-US" sz="1300" dirty="0"/>
          </a:p>
          <a:p>
            <a:pPr indent="0" marL="0">
              <a:lnSpc>
                <a:spcPct val="140000"/>
              </a:lnSpc>
              <a:buNone/>
            </a:pPr>
            <a:r>
              <a:rPr lang="en-US" sz="1300" dirty="0">
                <a:solidFill>
                  <a:srgbClr val="C8D8E8"/>
                </a:solidFill>
                <a:latin typeface="Calibri" pitchFamily="34" charset="0"/>
                <a:ea typeface="Calibri" pitchFamily="34" charset="-122"/>
                <a:cs typeface="Calibri" pitchFamily="34" charset="-120"/>
              </a:rPr>
              <a:t>02  Track 1 — Transfer Learning</a:t>
            </a:r>
            <a:endParaRPr lang="en-US" sz="1300" dirty="0"/>
          </a:p>
          <a:p>
            <a:pPr indent="0" marL="0">
              <a:lnSpc>
                <a:spcPct val="140000"/>
              </a:lnSpc>
              <a:buNone/>
            </a:pPr>
            <a:r>
              <a:rPr lang="en-US" sz="1300" dirty="0">
                <a:solidFill>
                  <a:srgbClr val="C8D8E8"/>
                </a:solidFill>
                <a:latin typeface="Calibri" pitchFamily="34" charset="0"/>
                <a:ea typeface="Calibri" pitchFamily="34" charset="-122"/>
                <a:cs typeface="Calibri" pitchFamily="34" charset="-120"/>
              </a:rPr>
              <a:t>03  Track 2 — From Scratch</a:t>
            </a:r>
            <a:endParaRPr lang="en-US" sz="1300" dirty="0"/>
          </a:p>
        </p:txBody>
      </p:sp>
      <p:sp>
        <p:nvSpPr>
          <p:cNvPr id="8" name="Text 6"/>
          <p:cNvSpPr/>
          <p:nvPr/>
        </p:nvSpPr>
        <p:spPr>
          <a:xfrm>
            <a:off x="4572000" y="2788920"/>
            <a:ext cx="4114800" cy="1371600"/>
          </a:xfrm>
          <a:prstGeom prst="rect">
            <a:avLst/>
          </a:prstGeom>
          <a:noFill/>
          <a:ln/>
        </p:spPr>
        <p:txBody>
          <a:bodyPr wrap="square" lIns="0" tIns="0" rIns="0" bIns="0" rtlCol="0" anchor="ctr"/>
          <a:lstStyle/>
          <a:p>
            <a:pPr indent="0" marL="0">
              <a:lnSpc>
                <a:spcPct val="140000"/>
              </a:lnSpc>
              <a:buNone/>
            </a:pPr>
            <a:r>
              <a:rPr lang="en-US" sz="1300" dirty="0">
                <a:solidFill>
                  <a:srgbClr val="C8D8E8"/>
                </a:solidFill>
                <a:latin typeface="Calibri" pitchFamily="34" charset="0"/>
                <a:ea typeface="Calibri" pitchFamily="34" charset="-122"/>
                <a:cs typeface="Calibri" pitchFamily="34" charset="-120"/>
              </a:rPr>
              <a:t>04  What the Comparison Reveals</a:t>
            </a:r>
            <a:endParaRPr lang="en-US" sz="1300" dirty="0"/>
          </a:p>
          <a:p>
            <a:pPr indent="0" marL="0">
              <a:lnSpc>
                <a:spcPct val="140000"/>
              </a:lnSpc>
              <a:buNone/>
            </a:pPr>
            <a:r>
              <a:rPr lang="en-US" sz="1300" dirty="0">
                <a:solidFill>
                  <a:srgbClr val="C8D8E8"/>
                </a:solidFill>
                <a:latin typeface="Calibri" pitchFamily="34" charset="0"/>
                <a:ea typeface="Calibri" pitchFamily="34" charset="-122"/>
                <a:cs typeface="Calibri" pitchFamily="34" charset="-120"/>
              </a:rPr>
              <a:t>05  What's Next</a:t>
            </a:r>
            <a:endParaRPr lang="en-US" sz="1300" dirty="0"/>
          </a:p>
          <a:p>
            <a:pPr indent="0" marL="0">
              <a:lnSpc>
                <a:spcPct val="140000"/>
              </a:lnSpc>
              <a:buNone/>
            </a:pPr>
            <a:endParaRPr lang="en-US" sz="1300" dirty="0"/>
          </a:p>
        </p:txBody>
      </p:sp>
      <p:sp>
        <p:nvSpPr>
          <p:cNvPr id="9" name="Text 7"/>
          <p:cNvSpPr/>
          <p:nvPr/>
        </p:nvSpPr>
        <p:spPr>
          <a:xfrm>
            <a:off x="502920" y="4663440"/>
            <a:ext cx="7772400" cy="274320"/>
          </a:xfrm>
          <a:prstGeom prst="rect">
            <a:avLst/>
          </a:prstGeom>
          <a:noFill/>
          <a:ln/>
        </p:spPr>
        <p:txBody>
          <a:bodyPr wrap="square" lIns="0" tIns="0" rIns="0" bIns="0" rtlCol="0" anchor="ctr"/>
          <a:lstStyle/>
          <a:p>
            <a:pPr indent="0" marL="0">
              <a:buNone/>
            </a:pPr>
            <a:r>
              <a:rPr lang="en-US" sz="1000" dirty="0">
                <a:solidFill>
                  <a:srgbClr val="7A9BB5"/>
                </a:solidFill>
                <a:latin typeface="Calibri" pitchFamily="34" charset="0"/>
                <a:ea typeface="Calibri" pitchFamily="34" charset="-122"/>
                <a:cs typeface="Calibri" pitchFamily="34" charset="-120"/>
              </a:rPr>
              <a:t>Zachary  ·  CIFAR-10 CV Project  ·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800" b="1" dirty="0">
                <a:solidFill>
                  <a:srgbClr val="02C39A"/>
                </a:solidFill>
                <a:latin typeface="Calibri" pitchFamily="34" charset="0"/>
                <a:ea typeface="Calibri" pitchFamily="34" charset="-122"/>
                <a:cs typeface="Calibri" pitchFamily="34" charset="-120"/>
              </a:rPr>
              <a:t>01  Problem &amp; Approach</a:t>
            </a:r>
            <a:endParaRPr lang="en-US" sz="2800" dirty="0"/>
          </a:p>
        </p:txBody>
      </p:sp>
      <p:sp>
        <p:nvSpPr>
          <p:cNvPr id="3" name="Shape 1"/>
          <p:cNvSpPr/>
          <p:nvPr/>
        </p:nvSpPr>
        <p:spPr>
          <a:xfrm>
            <a:off x="457200" y="804672"/>
            <a:ext cx="8229600" cy="27432"/>
          </a:xfrm>
          <a:prstGeom prst="rect">
            <a:avLst/>
          </a:prstGeom>
          <a:solidFill>
            <a:srgbClr val="028090"/>
          </a:solidFill>
          <a:ln w="12700">
            <a:solidFill>
              <a:srgbClr val="028090"/>
            </a:solidFill>
            <a:prstDash val="solid"/>
          </a:ln>
        </p:spPr>
      </p:sp>
      <p:sp>
        <p:nvSpPr>
          <p:cNvPr id="4" name="Shape 2"/>
          <p:cNvSpPr/>
          <p:nvPr/>
        </p:nvSpPr>
        <p:spPr>
          <a:xfrm>
            <a:off x="457200" y="960120"/>
            <a:ext cx="3840480" cy="3200400"/>
          </a:xfrm>
          <a:prstGeom prst="rect">
            <a:avLst/>
          </a:prstGeom>
          <a:solidFill>
            <a:srgbClr val="112840"/>
          </a:solidFill>
          <a:ln w="12700">
            <a:solidFill>
              <a:srgbClr val="028090"/>
            </a:solidFill>
            <a:prstDash val="solid"/>
          </a:ln>
        </p:spPr>
      </p:sp>
      <p:sp>
        <p:nvSpPr>
          <p:cNvPr id="5" name="Text 3"/>
          <p:cNvSpPr/>
          <p:nvPr/>
        </p:nvSpPr>
        <p:spPr>
          <a:xfrm>
            <a:off x="594360" y="1051560"/>
            <a:ext cx="3566160" cy="32004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The Challenge</a:t>
            </a:r>
            <a:endParaRPr lang="en-US" sz="1400" dirty="0"/>
          </a:p>
        </p:txBody>
      </p:sp>
      <p:sp>
        <p:nvSpPr>
          <p:cNvPr id="6" name="Text 4"/>
          <p:cNvSpPr/>
          <p:nvPr/>
        </p:nvSpPr>
        <p:spPr>
          <a:xfrm>
            <a:off x="594360" y="1463040"/>
            <a:ext cx="356616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C8D8E8"/>
                </a:solidFill>
                <a:latin typeface="Calibri" pitchFamily="34" charset="0"/>
                <a:ea typeface="Calibri" pitchFamily="34" charset="-122"/>
                <a:cs typeface="Calibri" pitchFamily="34" charset="-120"/>
              </a:rPr>
              <a:t>10-class image classification</a:t>
            </a:r>
            <a:endParaRPr lang="en-US" sz="1200" dirty="0"/>
          </a:p>
          <a:p>
            <a:pPr marL="342900" indent="-342900">
              <a:spcAft>
                <a:spcPts val="600"/>
              </a:spcAft>
              <a:buSzPct val="100000"/>
              <a:buChar char="•"/>
            </a:pPr>
            <a:r>
              <a:rPr lang="en-US" sz="1200" dirty="0">
                <a:solidFill>
                  <a:srgbClr val="C8D8E8"/>
                </a:solidFill>
                <a:latin typeface="Calibri" pitchFamily="34" charset="0"/>
                <a:ea typeface="Calibri" pitchFamily="34" charset="-122"/>
                <a:cs typeface="Calibri" pitchFamily="34" charset="-120"/>
              </a:rPr>
              <a:t>32×32 pixel inputs — extreme resolution constraint</a:t>
            </a:r>
            <a:endParaRPr lang="en-US" sz="1200" dirty="0"/>
          </a:p>
          <a:p>
            <a:pPr marL="342900" indent="-342900">
              <a:spcAft>
                <a:spcPts val="600"/>
              </a:spcAft>
              <a:buSzPct val="100000"/>
              <a:buChar char="•"/>
            </a:pPr>
            <a:r>
              <a:rPr lang="en-US" sz="1200" dirty="0">
                <a:solidFill>
                  <a:srgbClr val="C8D8E8"/>
                </a:solidFill>
                <a:latin typeface="Calibri" pitchFamily="34" charset="0"/>
                <a:ea typeface="Calibri" pitchFamily="34" charset="-122"/>
                <a:cs typeface="Calibri" pitchFamily="34" charset="-120"/>
              </a:rPr>
              <a:t>Visual ambiguity: cat vs. dog vs. deer at low-res</a:t>
            </a:r>
            <a:endParaRPr lang="en-US" sz="1200" dirty="0"/>
          </a:p>
          <a:p>
            <a:pPr marL="342900" indent="-342900">
              <a:spcAft>
                <a:spcPts val="600"/>
              </a:spcAft>
              <a:buSzPct val="100000"/>
              <a:buChar char="•"/>
            </a:pPr>
            <a:r>
              <a:rPr lang="en-US" sz="1200" dirty="0">
                <a:solidFill>
                  <a:srgbClr val="C8D8E8"/>
                </a:solidFill>
                <a:latin typeface="Calibri" pitchFamily="34" charset="0"/>
                <a:ea typeface="Calibri" pitchFamily="34" charset="-122"/>
                <a:cs typeface="Calibri" pitchFamily="34" charset="-120"/>
              </a:rPr>
              <a:t>Upscaling required for pretrained architectures (32→224px)</a:t>
            </a:r>
            <a:endParaRPr lang="en-US" sz="1200" dirty="0"/>
          </a:p>
          <a:p>
            <a:pPr marL="342900" indent="-342900">
              <a:spcAft>
                <a:spcPts val="600"/>
              </a:spcAft>
              <a:buSzPct val="100000"/>
              <a:buChar char="•"/>
            </a:pPr>
            <a:r>
              <a:rPr lang="en-US" sz="1200" dirty="0">
                <a:solidFill>
                  <a:srgbClr val="C8D8E8"/>
                </a:solidFill>
                <a:latin typeface="Calibri" pitchFamily="34" charset="0"/>
                <a:ea typeface="Calibri" pitchFamily="34" charset="-122"/>
                <a:cs typeface="Calibri" pitchFamily="34" charset="-120"/>
              </a:rPr>
              <a:t>Shared goal: understand WHAT drives performance</a:t>
            </a:r>
            <a:endParaRPr lang="en-US" sz="1200" dirty="0"/>
          </a:p>
        </p:txBody>
      </p:sp>
      <p:sp>
        <p:nvSpPr>
          <p:cNvPr id="7" name="Shape 5"/>
          <p:cNvSpPr/>
          <p:nvPr/>
        </p:nvSpPr>
        <p:spPr>
          <a:xfrm>
            <a:off x="4663440" y="960120"/>
            <a:ext cx="4023360" cy="1417320"/>
          </a:xfrm>
          <a:prstGeom prst="rect">
            <a:avLst/>
          </a:prstGeom>
          <a:solidFill>
            <a:srgbClr val="112840"/>
          </a:solidFill>
          <a:ln w="12700">
            <a:solidFill>
              <a:srgbClr val="028090"/>
            </a:solidFill>
            <a:prstDash val="solid"/>
          </a:ln>
        </p:spPr>
      </p:sp>
      <p:sp>
        <p:nvSpPr>
          <p:cNvPr id="8" name="Text 6"/>
          <p:cNvSpPr/>
          <p:nvPr/>
        </p:nvSpPr>
        <p:spPr>
          <a:xfrm>
            <a:off x="4800600" y="1051560"/>
            <a:ext cx="374904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Track 1 — Transfer Learning</a:t>
            </a:r>
            <a:endParaRPr lang="en-US" sz="1200" dirty="0"/>
          </a:p>
        </p:txBody>
      </p:sp>
      <p:sp>
        <p:nvSpPr>
          <p:cNvPr id="9" name="Text 7"/>
          <p:cNvSpPr/>
          <p:nvPr/>
        </p:nvSpPr>
        <p:spPr>
          <a:xfrm>
            <a:off x="4800600" y="1371600"/>
            <a:ext cx="3749040" cy="868680"/>
          </a:xfrm>
          <a:prstGeom prst="rect">
            <a:avLst/>
          </a:prstGeom>
          <a:noFill/>
          <a:ln/>
        </p:spPr>
        <p:txBody>
          <a:bodyPr wrap="square" lIns="0" tIns="0" rIns="0" bIns="0" rtlCol="0" anchor="ctr"/>
          <a:lstStyle/>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ResNet50 + ImageNet weights</a:t>
            </a:r>
            <a:endParaRPr lang="en-US" sz="1100" dirty="0"/>
          </a:p>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Frozen base → progressive unfreezing</a:t>
            </a:r>
            <a:endParaRPr lang="en-US" sz="1100" dirty="0"/>
          </a:p>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32px upscaled to 224px</a:t>
            </a:r>
            <a:endParaRPr lang="en-US" sz="1100" dirty="0"/>
          </a:p>
        </p:txBody>
      </p:sp>
      <p:sp>
        <p:nvSpPr>
          <p:cNvPr id="10" name="Shape 8"/>
          <p:cNvSpPr/>
          <p:nvPr/>
        </p:nvSpPr>
        <p:spPr>
          <a:xfrm>
            <a:off x="4663440" y="2514600"/>
            <a:ext cx="4023360" cy="1417320"/>
          </a:xfrm>
          <a:prstGeom prst="rect">
            <a:avLst/>
          </a:prstGeom>
          <a:solidFill>
            <a:srgbClr val="112840"/>
          </a:solidFill>
          <a:ln w="12700">
            <a:solidFill>
              <a:srgbClr val="F4A261"/>
            </a:solidFill>
            <a:prstDash val="solid"/>
          </a:ln>
        </p:spPr>
      </p:sp>
      <p:sp>
        <p:nvSpPr>
          <p:cNvPr id="11" name="Text 9"/>
          <p:cNvSpPr/>
          <p:nvPr/>
        </p:nvSpPr>
        <p:spPr>
          <a:xfrm>
            <a:off x="4800600" y="2606040"/>
            <a:ext cx="374904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Track 2 — From Scratch</a:t>
            </a:r>
            <a:endParaRPr lang="en-US" sz="1200" dirty="0"/>
          </a:p>
        </p:txBody>
      </p:sp>
      <p:sp>
        <p:nvSpPr>
          <p:cNvPr id="12" name="Text 10"/>
          <p:cNvSpPr/>
          <p:nvPr/>
        </p:nvSpPr>
        <p:spPr>
          <a:xfrm>
            <a:off x="4800600" y="2926080"/>
            <a:ext cx="3749040" cy="868680"/>
          </a:xfrm>
          <a:prstGeom prst="rect">
            <a:avLst/>
          </a:prstGeom>
          <a:noFill/>
          <a:ln/>
        </p:spPr>
        <p:txBody>
          <a:bodyPr wrap="square" lIns="0" tIns="0" rIns="0" bIns="0" rtlCol="0" anchor="ctr"/>
          <a:lstStyle/>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Custom ResNet variant, Kaiming init</a:t>
            </a:r>
            <a:endParaRPr lang="en-US" sz="1100" dirty="0"/>
          </a:p>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Native 32×32 — no upscaling</a:t>
            </a:r>
            <a:endParaRPr lang="en-US" sz="1100" dirty="0"/>
          </a:p>
          <a:p>
            <a:pPr indent="0" marL="0">
              <a:lnSpc>
                <a:spcPct val="130000"/>
              </a:lnSpc>
              <a:buNone/>
            </a:pPr>
            <a:r>
              <a:rPr lang="en-US" sz="1100" dirty="0">
                <a:solidFill>
                  <a:srgbClr val="C8D8E8"/>
                </a:solidFill>
                <a:latin typeface="Calibri" pitchFamily="34" charset="0"/>
                <a:ea typeface="Calibri" pitchFamily="34" charset="-122"/>
                <a:cs typeface="Calibri" pitchFamily="34" charset="-120"/>
              </a:rPr>
              <a:t>No pretrained priors</a:t>
            </a:r>
            <a:endParaRPr lang="en-US" sz="1100" dirty="0"/>
          </a:p>
        </p:txBody>
      </p:sp>
      <p:sp>
        <p:nvSpPr>
          <p:cNvPr id="13" name="Shape 11"/>
          <p:cNvSpPr/>
          <p:nvPr/>
        </p:nvSpPr>
        <p:spPr>
          <a:xfrm>
            <a:off x="4206240" y="2011680"/>
            <a:ext cx="384048" cy="384048"/>
          </a:xfrm>
          <a:prstGeom prst="ellipse">
            <a:avLst/>
          </a:prstGeom>
          <a:solidFill>
            <a:srgbClr val="028090"/>
          </a:solidFill>
          <a:ln w="12700">
            <a:solidFill>
              <a:srgbClr val="028090"/>
            </a:solidFill>
            <a:prstDash val="solid"/>
          </a:ln>
        </p:spPr>
      </p:sp>
      <p:sp>
        <p:nvSpPr>
          <p:cNvPr id="14" name="Text 12"/>
          <p:cNvSpPr/>
          <p:nvPr/>
        </p:nvSpPr>
        <p:spPr>
          <a:xfrm>
            <a:off x="4206240" y="2029968"/>
            <a:ext cx="384048"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VS</a:t>
            </a:r>
            <a:endParaRPr lang="en-US" sz="900" dirty="0"/>
          </a:p>
        </p:txBody>
      </p:sp>
      <p:sp>
        <p:nvSpPr>
          <p:cNvPr id="15" name="Shape 13"/>
          <p:cNvSpPr/>
          <p:nvPr/>
        </p:nvSpPr>
        <p:spPr>
          <a:xfrm>
            <a:off x="4663440" y="4069080"/>
            <a:ext cx="4023360" cy="685800"/>
          </a:xfrm>
          <a:prstGeom prst="rect">
            <a:avLst/>
          </a:prstGeom>
          <a:solidFill>
            <a:srgbClr val="0A1E30"/>
          </a:solidFill>
          <a:ln w="12700">
            <a:solidFill>
              <a:srgbClr val="7A9BB5"/>
            </a:solidFill>
            <a:prstDash val="solid"/>
          </a:ln>
        </p:spPr>
      </p:sp>
      <p:sp>
        <p:nvSpPr>
          <p:cNvPr id="16" name="Text 14"/>
          <p:cNvSpPr/>
          <p:nvPr/>
        </p:nvSpPr>
        <p:spPr>
          <a:xfrm>
            <a:off x="4800600" y="4114800"/>
            <a:ext cx="3749040" cy="201168"/>
          </a:xfrm>
          <a:prstGeom prst="rect">
            <a:avLst/>
          </a:prstGeom>
          <a:noFill/>
          <a:ln/>
        </p:spPr>
        <p:txBody>
          <a:bodyPr wrap="square" lIns="0" tIns="0" rIns="0" bIns="0" rtlCol="0" anchor="ctr"/>
          <a:lstStyle/>
          <a:p>
            <a:pPr indent="0" marL="0">
              <a:buNone/>
            </a:pPr>
            <a:r>
              <a:rPr lang="en-US" sz="900" b="1" dirty="0">
                <a:solidFill>
                  <a:srgbClr val="7A9BB5"/>
                </a:solidFill>
                <a:latin typeface="Calibri" pitchFamily="34" charset="0"/>
                <a:ea typeface="Calibri" pitchFamily="34" charset="-122"/>
                <a:cs typeface="Calibri" pitchFamily="34" charset="-120"/>
              </a:rPr>
              <a:t>Shared Methodology</a:t>
            </a:r>
            <a:endParaRPr lang="en-US" sz="900" dirty="0"/>
          </a:p>
        </p:txBody>
      </p:sp>
      <p:sp>
        <p:nvSpPr>
          <p:cNvPr id="17" name="Text 15"/>
          <p:cNvSpPr/>
          <p:nvPr/>
        </p:nvSpPr>
        <p:spPr>
          <a:xfrm>
            <a:off x="4800600" y="4315968"/>
            <a:ext cx="3749040" cy="384048"/>
          </a:xfrm>
          <a:prstGeom prst="rect">
            <a:avLst/>
          </a:prstGeom>
          <a:noFill/>
          <a:ln/>
        </p:spPr>
        <p:txBody>
          <a:bodyPr wrap="square" lIns="0" tIns="0" rIns="0" bIns="0" rtlCol="0" anchor="ctr"/>
          <a:lstStyle/>
          <a:p>
            <a:pPr indent="0" marL="0">
              <a:lnSpc>
                <a:spcPct val="120000"/>
              </a:lnSpc>
              <a:buNone/>
            </a:pPr>
            <a:r>
              <a:rPr lang="en-US" sz="850" dirty="0">
                <a:solidFill>
                  <a:srgbClr val="7A9BB5"/>
                </a:solidFill>
                <a:latin typeface="Calibri" pitchFamily="34" charset="0"/>
                <a:ea typeface="Calibri" pitchFamily="34" charset="-122"/>
                <a:cs typeface="Calibri" pitchFamily="34" charset="-120"/>
              </a:rPr>
              <a:t>PyTorch  ·  CrossEntropyLoss (softmax built-in)  ·  AdamW  ·  Early stopping  ·  80/20 train/val  ·  ImageNet norm (T1) / CIFAR-10 norm (T2)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800" b="1" dirty="0">
                <a:solidFill>
                  <a:srgbClr val="028090"/>
                </a:solidFill>
                <a:latin typeface="Calibri" pitchFamily="34" charset="0"/>
                <a:ea typeface="Calibri" pitchFamily="34" charset="-122"/>
                <a:cs typeface="Calibri" pitchFamily="34" charset="-120"/>
              </a:rPr>
              <a:t>02  Track 1 — Transfer Learning</a:t>
            </a:r>
            <a:endParaRPr lang="en-US" sz="2800" dirty="0"/>
          </a:p>
        </p:txBody>
      </p:sp>
      <p:sp>
        <p:nvSpPr>
          <p:cNvPr id="3" name="Shape 1"/>
          <p:cNvSpPr/>
          <p:nvPr/>
        </p:nvSpPr>
        <p:spPr>
          <a:xfrm>
            <a:off x="457200" y="804672"/>
            <a:ext cx="8229600" cy="27432"/>
          </a:xfrm>
          <a:prstGeom prst="rect">
            <a:avLst/>
          </a:prstGeom>
          <a:solidFill>
            <a:srgbClr val="028090"/>
          </a:solidFill>
          <a:ln w="12700">
            <a:solidFill>
              <a:srgbClr val="028090"/>
            </a:solidFill>
            <a:prstDash val="solid"/>
          </a:ln>
        </p:spPr>
      </p:sp>
      <p:sp>
        <p:nvSpPr>
          <p:cNvPr id="4" name="Shape 2"/>
          <p:cNvSpPr/>
          <p:nvPr/>
        </p:nvSpPr>
        <p:spPr>
          <a:xfrm>
            <a:off x="457200" y="960120"/>
            <a:ext cx="3474720" cy="530352"/>
          </a:xfrm>
          <a:prstGeom prst="rect">
            <a:avLst/>
          </a:prstGeom>
          <a:solidFill>
            <a:srgbClr val="2E5266"/>
          </a:solidFill>
          <a:ln w="12700">
            <a:solidFill>
              <a:srgbClr val="2E5266"/>
            </a:solidFill>
            <a:prstDash val="solid"/>
          </a:ln>
        </p:spPr>
      </p:sp>
      <p:sp>
        <p:nvSpPr>
          <p:cNvPr id="5" name="Text 3"/>
          <p:cNvSpPr/>
          <p:nvPr/>
        </p:nvSpPr>
        <p:spPr>
          <a:xfrm>
            <a:off x="548640" y="996696"/>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conv1</a:t>
            </a:r>
            <a:endParaRPr lang="en-US" sz="1100" dirty="0"/>
          </a:p>
        </p:txBody>
      </p:sp>
      <p:sp>
        <p:nvSpPr>
          <p:cNvPr id="6" name="Text 4"/>
          <p:cNvSpPr/>
          <p:nvPr/>
        </p:nvSpPr>
        <p:spPr>
          <a:xfrm>
            <a:off x="1600200" y="996696"/>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Raw edges &amp; color gradients</a:t>
            </a:r>
            <a:endParaRPr lang="en-US" sz="950" dirty="0"/>
          </a:p>
        </p:txBody>
      </p:sp>
      <p:sp>
        <p:nvSpPr>
          <p:cNvPr id="7" name="Text 5"/>
          <p:cNvSpPr/>
          <p:nvPr/>
        </p:nvSpPr>
        <p:spPr>
          <a:xfrm>
            <a:off x="548640" y="1234440"/>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Universal — never touched</a:t>
            </a:r>
            <a:endParaRPr lang="en-US" sz="850" dirty="0"/>
          </a:p>
        </p:txBody>
      </p:sp>
      <p:sp>
        <p:nvSpPr>
          <p:cNvPr id="8" name="Shape 6"/>
          <p:cNvSpPr/>
          <p:nvPr/>
        </p:nvSpPr>
        <p:spPr>
          <a:xfrm>
            <a:off x="457200" y="1581912"/>
            <a:ext cx="3474720" cy="530352"/>
          </a:xfrm>
          <a:prstGeom prst="rect">
            <a:avLst/>
          </a:prstGeom>
          <a:solidFill>
            <a:srgbClr val="2E6E8E"/>
          </a:solidFill>
          <a:ln w="12700">
            <a:solidFill>
              <a:srgbClr val="2E6E8E"/>
            </a:solidFill>
            <a:prstDash val="solid"/>
          </a:ln>
        </p:spPr>
      </p:sp>
      <p:sp>
        <p:nvSpPr>
          <p:cNvPr id="9" name="Text 7"/>
          <p:cNvSpPr/>
          <p:nvPr/>
        </p:nvSpPr>
        <p:spPr>
          <a:xfrm>
            <a:off x="548640" y="1618488"/>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layer1</a:t>
            </a:r>
            <a:endParaRPr lang="en-US" sz="1100" dirty="0"/>
          </a:p>
        </p:txBody>
      </p:sp>
      <p:sp>
        <p:nvSpPr>
          <p:cNvPr id="10" name="Text 8"/>
          <p:cNvSpPr/>
          <p:nvPr/>
        </p:nvSpPr>
        <p:spPr>
          <a:xfrm>
            <a:off x="1600200" y="1618488"/>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Simple textures &amp; shapes</a:t>
            </a:r>
            <a:endParaRPr lang="en-US" sz="950" dirty="0"/>
          </a:p>
        </p:txBody>
      </p:sp>
      <p:sp>
        <p:nvSpPr>
          <p:cNvPr id="11" name="Text 9"/>
          <p:cNvSpPr/>
          <p:nvPr/>
        </p:nvSpPr>
        <p:spPr>
          <a:xfrm>
            <a:off x="548640" y="1856232"/>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Rarely unfrozen</a:t>
            </a:r>
            <a:endParaRPr lang="en-US" sz="850" dirty="0"/>
          </a:p>
        </p:txBody>
      </p:sp>
      <p:sp>
        <p:nvSpPr>
          <p:cNvPr id="12" name="Shape 10"/>
          <p:cNvSpPr/>
          <p:nvPr/>
        </p:nvSpPr>
        <p:spPr>
          <a:xfrm>
            <a:off x="457200" y="2203704"/>
            <a:ext cx="3474720" cy="530352"/>
          </a:xfrm>
          <a:prstGeom prst="rect">
            <a:avLst/>
          </a:prstGeom>
          <a:solidFill>
            <a:srgbClr val="028090"/>
          </a:solidFill>
          <a:ln w="12700">
            <a:solidFill>
              <a:srgbClr val="028090"/>
            </a:solidFill>
            <a:prstDash val="solid"/>
          </a:ln>
        </p:spPr>
      </p:sp>
      <p:sp>
        <p:nvSpPr>
          <p:cNvPr id="13" name="Text 11"/>
          <p:cNvSpPr/>
          <p:nvPr/>
        </p:nvSpPr>
        <p:spPr>
          <a:xfrm>
            <a:off x="548640" y="2240280"/>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layer2</a:t>
            </a:r>
            <a:endParaRPr lang="en-US" sz="1100" dirty="0"/>
          </a:p>
        </p:txBody>
      </p:sp>
      <p:sp>
        <p:nvSpPr>
          <p:cNvPr id="14" name="Text 12"/>
          <p:cNvSpPr/>
          <p:nvPr/>
        </p:nvSpPr>
        <p:spPr>
          <a:xfrm>
            <a:off x="1600200" y="2240280"/>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Patterns &amp; object parts</a:t>
            </a:r>
            <a:endParaRPr lang="en-US" sz="950" dirty="0"/>
          </a:p>
        </p:txBody>
      </p:sp>
      <p:sp>
        <p:nvSpPr>
          <p:cNvPr id="15" name="Text 13"/>
          <p:cNvSpPr/>
          <p:nvPr/>
        </p:nvSpPr>
        <p:spPr>
          <a:xfrm>
            <a:off x="548640" y="2478024"/>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Moderately universal</a:t>
            </a:r>
            <a:endParaRPr lang="en-US" sz="850" dirty="0"/>
          </a:p>
        </p:txBody>
      </p:sp>
      <p:sp>
        <p:nvSpPr>
          <p:cNvPr id="16" name="Shape 14"/>
          <p:cNvSpPr/>
          <p:nvPr/>
        </p:nvSpPr>
        <p:spPr>
          <a:xfrm>
            <a:off x="457200" y="2825496"/>
            <a:ext cx="3474720" cy="530352"/>
          </a:xfrm>
          <a:prstGeom prst="rect">
            <a:avLst/>
          </a:prstGeom>
          <a:solidFill>
            <a:srgbClr val="00A896"/>
          </a:solidFill>
          <a:ln w="12700">
            <a:solidFill>
              <a:srgbClr val="00A896"/>
            </a:solidFill>
            <a:prstDash val="solid"/>
          </a:ln>
        </p:spPr>
      </p:sp>
      <p:sp>
        <p:nvSpPr>
          <p:cNvPr id="17" name="Text 15"/>
          <p:cNvSpPr/>
          <p:nvPr/>
        </p:nvSpPr>
        <p:spPr>
          <a:xfrm>
            <a:off x="548640" y="2862072"/>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layer3</a:t>
            </a:r>
            <a:endParaRPr lang="en-US" sz="1100" dirty="0"/>
          </a:p>
        </p:txBody>
      </p:sp>
      <p:sp>
        <p:nvSpPr>
          <p:cNvPr id="18" name="Text 16"/>
          <p:cNvSpPr/>
          <p:nvPr/>
        </p:nvSpPr>
        <p:spPr>
          <a:xfrm>
            <a:off x="1600200" y="2862072"/>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Complex part combinations</a:t>
            </a:r>
            <a:endParaRPr lang="en-US" sz="950" dirty="0"/>
          </a:p>
        </p:txBody>
      </p:sp>
      <p:sp>
        <p:nvSpPr>
          <p:cNvPr id="19" name="Text 17"/>
          <p:cNvSpPr/>
          <p:nvPr/>
        </p:nvSpPr>
        <p:spPr>
          <a:xfrm>
            <a:off x="548640" y="3099816"/>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 unfrozen in S11</a:t>
            </a:r>
            <a:endParaRPr lang="en-US" sz="850" dirty="0"/>
          </a:p>
        </p:txBody>
      </p:sp>
      <p:sp>
        <p:nvSpPr>
          <p:cNvPr id="20" name="Shape 18"/>
          <p:cNvSpPr/>
          <p:nvPr/>
        </p:nvSpPr>
        <p:spPr>
          <a:xfrm>
            <a:off x="457200" y="3447288"/>
            <a:ext cx="3474720" cy="530352"/>
          </a:xfrm>
          <a:prstGeom prst="rect">
            <a:avLst/>
          </a:prstGeom>
          <a:solidFill>
            <a:srgbClr val="02C39A"/>
          </a:solidFill>
          <a:ln w="12700">
            <a:solidFill>
              <a:srgbClr val="02C39A"/>
            </a:solidFill>
            <a:prstDash val="solid"/>
          </a:ln>
        </p:spPr>
      </p:sp>
      <p:sp>
        <p:nvSpPr>
          <p:cNvPr id="21" name="Text 19"/>
          <p:cNvSpPr/>
          <p:nvPr/>
        </p:nvSpPr>
        <p:spPr>
          <a:xfrm>
            <a:off x="548640" y="3483864"/>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layer4</a:t>
            </a:r>
            <a:endParaRPr lang="en-US" sz="1100" dirty="0"/>
          </a:p>
        </p:txBody>
      </p:sp>
      <p:sp>
        <p:nvSpPr>
          <p:cNvPr id="22" name="Text 20"/>
          <p:cNvSpPr/>
          <p:nvPr/>
        </p:nvSpPr>
        <p:spPr>
          <a:xfrm>
            <a:off x="1600200" y="3483864"/>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High-level class features</a:t>
            </a:r>
            <a:endParaRPr lang="en-US" sz="950" dirty="0"/>
          </a:p>
        </p:txBody>
      </p:sp>
      <p:sp>
        <p:nvSpPr>
          <p:cNvPr id="23" name="Text 21"/>
          <p:cNvSpPr/>
          <p:nvPr/>
        </p:nvSpPr>
        <p:spPr>
          <a:xfrm>
            <a:off x="548640" y="3721608"/>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Most ImageNet-specific</a:t>
            </a:r>
            <a:endParaRPr lang="en-US" sz="850" dirty="0"/>
          </a:p>
        </p:txBody>
      </p:sp>
      <p:sp>
        <p:nvSpPr>
          <p:cNvPr id="24" name="Shape 22"/>
          <p:cNvSpPr/>
          <p:nvPr/>
        </p:nvSpPr>
        <p:spPr>
          <a:xfrm>
            <a:off x="457200" y="4069080"/>
            <a:ext cx="3474720" cy="530352"/>
          </a:xfrm>
          <a:prstGeom prst="rect">
            <a:avLst/>
          </a:prstGeom>
          <a:solidFill>
            <a:srgbClr val="F4A261"/>
          </a:solidFill>
          <a:ln w="12700">
            <a:solidFill>
              <a:srgbClr val="F4A261"/>
            </a:solidFill>
            <a:prstDash val="solid"/>
          </a:ln>
        </p:spPr>
      </p:sp>
      <p:sp>
        <p:nvSpPr>
          <p:cNvPr id="25" name="Text 23"/>
          <p:cNvSpPr/>
          <p:nvPr/>
        </p:nvSpPr>
        <p:spPr>
          <a:xfrm>
            <a:off x="548640" y="4105656"/>
            <a:ext cx="100584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fc head</a:t>
            </a:r>
            <a:endParaRPr lang="en-US" sz="1100" dirty="0"/>
          </a:p>
        </p:txBody>
      </p:sp>
      <p:sp>
        <p:nvSpPr>
          <p:cNvPr id="26" name="Text 24"/>
          <p:cNvSpPr/>
          <p:nvPr/>
        </p:nvSpPr>
        <p:spPr>
          <a:xfrm>
            <a:off x="1600200" y="4105656"/>
            <a:ext cx="1691640" cy="2286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Custom classifier</a:t>
            </a:r>
            <a:endParaRPr lang="en-US" sz="950" dirty="0"/>
          </a:p>
        </p:txBody>
      </p:sp>
      <p:sp>
        <p:nvSpPr>
          <p:cNvPr id="27" name="Text 25"/>
          <p:cNvSpPr/>
          <p:nvPr/>
        </p:nvSpPr>
        <p:spPr>
          <a:xfrm>
            <a:off x="548640" y="4343400"/>
            <a:ext cx="3291840" cy="182880"/>
          </a:xfrm>
          <a:prstGeom prst="rect">
            <a:avLst/>
          </a:prstGeom>
          <a:noFill/>
          <a:ln/>
        </p:spPr>
        <p:txBody>
          <a:bodyPr wrap="square" lIns="0" tIns="0" rIns="0" bIns="0" rtlCol="0" anchor="ctr"/>
          <a:lstStyle/>
          <a:p>
            <a:pPr indent="0" marL="0">
              <a:buNone/>
            </a:pPr>
            <a:r>
              <a:rPr lang="en-US" sz="850" i="1" dirty="0">
                <a:solidFill>
                  <a:srgbClr val="D0EEF0"/>
                </a:solidFill>
                <a:latin typeface="Calibri" pitchFamily="34" charset="0"/>
                <a:ea typeface="Calibri" pitchFamily="34" charset="-122"/>
                <a:cs typeface="Calibri" pitchFamily="34" charset="-120"/>
              </a:rPr>
              <a:t>Always trainable</a:t>
            </a:r>
            <a:endParaRPr lang="en-US" sz="850" dirty="0"/>
          </a:p>
        </p:txBody>
      </p:sp>
      <p:sp>
        <p:nvSpPr>
          <p:cNvPr id="28" name="Text 26"/>
          <p:cNvSpPr/>
          <p:nvPr/>
        </p:nvSpPr>
        <p:spPr>
          <a:xfrm>
            <a:off x="4251960" y="914400"/>
            <a:ext cx="4572000" cy="274320"/>
          </a:xfrm>
          <a:prstGeom prst="rect">
            <a:avLst/>
          </a:prstGeom>
          <a:noFill/>
          <a:ln/>
        </p:spPr>
        <p:txBody>
          <a:bodyPr wrap="square" lIns="0" tIns="0" rIns="0" bIns="0" rtlCol="0" anchor="ctr"/>
          <a:lstStyle/>
          <a:p>
            <a:pPr indent="0" marL="0">
              <a:buNone/>
            </a:pPr>
            <a:r>
              <a:rPr lang="en-US" sz="1300" b="1" dirty="0">
                <a:solidFill>
                  <a:srgbClr val="C8D8E8"/>
                </a:solidFill>
                <a:latin typeface="Calibri" pitchFamily="34" charset="0"/>
                <a:ea typeface="Calibri" pitchFamily="34" charset="-122"/>
                <a:cs typeface="Calibri" pitchFamily="34" charset="-120"/>
              </a:rPr>
              <a:t>Experimental Progression</a:t>
            </a:r>
            <a:endParaRPr lang="en-US" sz="1300" dirty="0"/>
          </a:p>
        </p:txBody>
      </p:sp>
      <p:sp>
        <p:nvSpPr>
          <p:cNvPr id="29" name="Shape 27"/>
          <p:cNvSpPr/>
          <p:nvPr/>
        </p:nvSpPr>
        <p:spPr>
          <a:xfrm>
            <a:off x="4251960" y="1261872"/>
            <a:ext cx="4389120" cy="530352"/>
          </a:xfrm>
          <a:prstGeom prst="rect">
            <a:avLst/>
          </a:prstGeom>
          <a:solidFill>
            <a:srgbClr val="112840"/>
          </a:solidFill>
          <a:ln w="12700">
            <a:solidFill>
              <a:srgbClr val="2E6E8E"/>
            </a:solidFill>
            <a:prstDash val="solid"/>
          </a:ln>
        </p:spPr>
      </p:sp>
      <p:sp>
        <p:nvSpPr>
          <p:cNvPr id="30" name="Shape 28"/>
          <p:cNvSpPr/>
          <p:nvPr/>
        </p:nvSpPr>
        <p:spPr>
          <a:xfrm>
            <a:off x="4315968" y="1380744"/>
            <a:ext cx="1371600" cy="292608"/>
          </a:xfrm>
          <a:prstGeom prst="roundRect">
            <a:avLst>
              <a:gd name="adj" fmla="val 25000"/>
            </a:avLst>
          </a:prstGeom>
          <a:solidFill>
            <a:srgbClr val="2E6E8E"/>
          </a:solidFill>
          <a:ln w="12700">
            <a:solidFill>
              <a:srgbClr val="2E6E8E"/>
            </a:solidFill>
            <a:prstDash val="solid"/>
          </a:ln>
        </p:spPr>
      </p:sp>
      <p:sp>
        <p:nvSpPr>
          <p:cNvPr id="31" name="Text 29"/>
          <p:cNvSpPr/>
          <p:nvPr/>
        </p:nvSpPr>
        <p:spPr>
          <a:xfrm>
            <a:off x="4315968" y="1399032"/>
            <a:ext cx="1371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S7</a:t>
            </a:r>
            <a:endParaRPr lang="en-US" sz="1100" dirty="0"/>
          </a:p>
        </p:txBody>
      </p:sp>
      <p:sp>
        <p:nvSpPr>
          <p:cNvPr id="32" name="Text 30"/>
          <p:cNvSpPr/>
          <p:nvPr/>
        </p:nvSpPr>
        <p:spPr>
          <a:xfrm>
            <a:off x="5806440" y="1380744"/>
            <a:ext cx="1828800" cy="274320"/>
          </a:xfrm>
          <a:prstGeom prst="rect">
            <a:avLst/>
          </a:prstGeom>
          <a:noFill/>
          <a:ln/>
        </p:spPr>
        <p:txBody>
          <a:bodyPr wrap="square" lIns="0" tIns="0" rIns="0" bIns="0" rtlCol="0" anchor="ctr"/>
          <a:lstStyle/>
          <a:p>
            <a:pPr indent="0" marL="0">
              <a:buNone/>
            </a:pPr>
            <a:r>
              <a:rPr lang="en-US" sz="1100" dirty="0">
                <a:solidFill>
                  <a:srgbClr val="C8D8E8"/>
                </a:solidFill>
                <a:latin typeface="Calibri" pitchFamily="34" charset="0"/>
                <a:ea typeface="Calibri" pitchFamily="34" charset="-122"/>
                <a:cs typeface="Calibri" pitchFamily="34" charset="-120"/>
              </a:rPr>
              <a:t>Head only</a:t>
            </a:r>
            <a:endParaRPr lang="en-US" sz="1100" dirty="0"/>
          </a:p>
        </p:txBody>
      </p:sp>
      <p:sp>
        <p:nvSpPr>
          <p:cNvPr id="33" name="Text 31"/>
          <p:cNvSpPr/>
          <p:nvPr/>
        </p:nvSpPr>
        <p:spPr>
          <a:xfrm>
            <a:off x="7406640" y="1335024"/>
            <a:ext cx="1143000" cy="384048"/>
          </a:xfrm>
          <a:prstGeom prst="rect">
            <a:avLst/>
          </a:prstGeom>
          <a:noFill/>
          <a:ln/>
        </p:spPr>
        <p:txBody>
          <a:bodyPr wrap="square" lIns="0" tIns="0" rIns="0" bIns="0" rtlCol="0" anchor="ctr"/>
          <a:lstStyle/>
          <a:p>
            <a:pPr algn="r" indent="0" marL="0">
              <a:buNone/>
            </a:pPr>
            <a:r>
              <a:rPr lang="en-US" sz="2000" b="1" dirty="0">
                <a:solidFill>
                  <a:srgbClr val="2E6E8E"/>
                </a:solidFill>
                <a:latin typeface="Calibri" pitchFamily="34" charset="0"/>
                <a:ea typeface="Calibri" pitchFamily="34" charset="-122"/>
                <a:cs typeface="Calibri" pitchFamily="34" charset="-120"/>
              </a:rPr>
              <a:t>78.0%</a:t>
            </a:r>
            <a:endParaRPr lang="en-US" sz="2000" dirty="0"/>
          </a:p>
        </p:txBody>
      </p:sp>
      <p:sp>
        <p:nvSpPr>
          <p:cNvPr id="34" name="Shape 32"/>
          <p:cNvSpPr/>
          <p:nvPr/>
        </p:nvSpPr>
        <p:spPr>
          <a:xfrm>
            <a:off x="4251960" y="1920240"/>
            <a:ext cx="4389120" cy="530352"/>
          </a:xfrm>
          <a:prstGeom prst="rect">
            <a:avLst/>
          </a:prstGeom>
          <a:solidFill>
            <a:srgbClr val="112840"/>
          </a:solidFill>
          <a:ln w="12700">
            <a:solidFill>
              <a:srgbClr val="028090"/>
            </a:solidFill>
            <a:prstDash val="solid"/>
          </a:ln>
        </p:spPr>
      </p:sp>
      <p:sp>
        <p:nvSpPr>
          <p:cNvPr id="35" name="Shape 33"/>
          <p:cNvSpPr/>
          <p:nvPr/>
        </p:nvSpPr>
        <p:spPr>
          <a:xfrm>
            <a:off x="4315968" y="2039112"/>
            <a:ext cx="1371600" cy="292608"/>
          </a:xfrm>
          <a:prstGeom prst="roundRect">
            <a:avLst>
              <a:gd name="adj" fmla="val 25000"/>
            </a:avLst>
          </a:prstGeom>
          <a:solidFill>
            <a:srgbClr val="028090"/>
          </a:solidFill>
          <a:ln w="12700">
            <a:solidFill>
              <a:srgbClr val="028090"/>
            </a:solidFill>
            <a:prstDash val="solid"/>
          </a:ln>
        </p:spPr>
      </p:sp>
      <p:sp>
        <p:nvSpPr>
          <p:cNvPr id="36" name="Text 34"/>
          <p:cNvSpPr/>
          <p:nvPr/>
        </p:nvSpPr>
        <p:spPr>
          <a:xfrm>
            <a:off x="4315968" y="2057400"/>
            <a:ext cx="1371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S8a</a:t>
            </a:r>
            <a:endParaRPr lang="en-US" sz="1100" dirty="0"/>
          </a:p>
        </p:txBody>
      </p:sp>
      <p:sp>
        <p:nvSpPr>
          <p:cNvPr id="37" name="Text 35"/>
          <p:cNvSpPr/>
          <p:nvPr/>
        </p:nvSpPr>
        <p:spPr>
          <a:xfrm>
            <a:off x="5806440" y="2039112"/>
            <a:ext cx="1828800" cy="274320"/>
          </a:xfrm>
          <a:prstGeom prst="rect">
            <a:avLst/>
          </a:prstGeom>
          <a:noFill/>
          <a:ln/>
        </p:spPr>
        <p:txBody>
          <a:bodyPr wrap="square" lIns="0" tIns="0" rIns="0" bIns="0" rtlCol="0" anchor="ctr"/>
          <a:lstStyle/>
          <a:p>
            <a:pPr indent="0" marL="0">
              <a:buNone/>
            </a:pPr>
            <a:r>
              <a:rPr lang="en-US" sz="1100" dirty="0">
                <a:solidFill>
                  <a:srgbClr val="C8D8E8"/>
                </a:solidFill>
                <a:latin typeface="Calibri" pitchFamily="34" charset="0"/>
                <a:ea typeface="Calibri" pitchFamily="34" charset="-122"/>
                <a:cs typeface="Calibri" pitchFamily="34" charset="-120"/>
              </a:rPr>
              <a:t>Full unfreeze</a:t>
            </a:r>
            <a:endParaRPr lang="en-US" sz="1100" dirty="0"/>
          </a:p>
        </p:txBody>
      </p:sp>
      <p:sp>
        <p:nvSpPr>
          <p:cNvPr id="38" name="Text 36"/>
          <p:cNvSpPr/>
          <p:nvPr/>
        </p:nvSpPr>
        <p:spPr>
          <a:xfrm>
            <a:off x="7406640" y="1993392"/>
            <a:ext cx="1143000" cy="384048"/>
          </a:xfrm>
          <a:prstGeom prst="rect">
            <a:avLst/>
          </a:prstGeom>
          <a:noFill/>
          <a:ln/>
        </p:spPr>
        <p:txBody>
          <a:bodyPr wrap="square" lIns="0" tIns="0" rIns="0" bIns="0" rtlCol="0" anchor="ctr"/>
          <a:lstStyle/>
          <a:p>
            <a:pPr algn="r" indent="0" marL="0">
              <a:buNone/>
            </a:pPr>
            <a:r>
              <a:rPr lang="en-US" sz="2000" b="1" dirty="0">
                <a:solidFill>
                  <a:srgbClr val="028090"/>
                </a:solidFill>
                <a:latin typeface="Calibri" pitchFamily="34" charset="0"/>
                <a:ea typeface="Calibri" pitchFamily="34" charset="-122"/>
                <a:cs typeface="Calibri" pitchFamily="34" charset="-120"/>
              </a:rPr>
              <a:t>89.5%</a:t>
            </a:r>
            <a:endParaRPr lang="en-US" sz="2000" dirty="0"/>
          </a:p>
        </p:txBody>
      </p:sp>
      <p:sp>
        <p:nvSpPr>
          <p:cNvPr id="39" name="Shape 37"/>
          <p:cNvSpPr/>
          <p:nvPr/>
        </p:nvSpPr>
        <p:spPr>
          <a:xfrm>
            <a:off x="4251960" y="2578608"/>
            <a:ext cx="4389120" cy="530352"/>
          </a:xfrm>
          <a:prstGeom prst="rect">
            <a:avLst/>
          </a:prstGeom>
          <a:solidFill>
            <a:srgbClr val="112840"/>
          </a:solidFill>
          <a:ln w="12700">
            <a:solidFill>
              <a:srgbClr val="00A896"/>
            </a:solidFill>
            <a:prstDash val="solid"/>
          </a:ln>
        </p:spPr>
      </p:sp>
      <p:sp>
        <p:nvSpPr>
          <p:cNvPr id="40" name="Shape 38"/>
          <p:cNvSpPr/>
          <p:nvPr/>
        </p:nvSpPr>
        <p:spPr>
          <a:xfrm>
            <a:off x="4315968" y="2697480"/>
            <a:ext cx="1371600" cy="292608"/>
          </a:xfrm>
          <a:prstGeom prst="roundRect">
            <a:avLst>
              <a:gd name="adj" fmla="val 25000"/>
            </a:avLst>
          </a:prstGeom>
          <a:solidFill>
            <a:srgbClr val="00A896"/>
          </a:solidFill>
          <a:ln w="12700">
            <a:solidFill>
              <a:srgbClr val="00A896"/>
            </a:solidFill>
            <a:prstDash val="solid"/>
          </a:ln>
        </p:spPr>
      </p:sp>
      <p:sp>
        <p:nvSpPr>
          <p:cNvPr id="41" name="Text 39"/>
          <p:cNvSpPr/>
          <p:nvPr/>
        </p:nvSpPr>
        <p:spPr>
          <a:xfrm>
            <a:off x="4315968" y="2715768"/>
            <a:ext cx="1371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S8b</a:t>
            </a:r>
            <a:endParaRPr lang="en-US" sz="1100" dirty="0"/>
          </a:p>
        </p:txBody>
      </p:sp>
      <p:sp>
        <p:nvSpPr>
          <p:cNvPr id="42" name="Text 40"/>
          <p:cNvSpPr/>
          <p:nvPr/>
        </p:nvSpPr>
        <p:spPr>
          <a:xfrm>
            <a:off x="5806440" y="2697480"/>
            <a:ext cx="1828800" cy="274320"/>
          </a:xfrm>
          <a:prstGeom prst="rect">
            <a:avLst/>
          </a:prstGeom>
          <a:noFill/>
          <a:ln/>
        </p:spPr>
        <p:txBody>
          <a:bodyPr wrap="square" lIns="0" tIns="0" rIns="0" bIns="0" rtlCol="0" anchor="ctr"/>
          <a:lstStyle/>
          <a:p>
            <a:pPr indent="0" marL="0">
              <a:buNone/>
            </a:pPr>
            <a:r>
              <a:rPr lang="en-US" sz="1100" dirty="0">
                <a:solidFill>
                  <a:srgbClr val="C8D8E8"/>
                </a:solidFill>
                <a:latin typeface="Calibri" pitchFamily="34" charset="0"/>
                <a:ea typeface="Calibri" pitchFamily="34" charset="-122"/>
                <a:cs typeface="Calibri" pitchFamily="34" charset="-120"/>
              </a:rPr>
              <a:t>Layer4 only</a:t>
            </a:r>
            <a:endParaRPr lang="en-US" sz="1100" dirty="0"/>
          </a:p>
        </p:txBody>
      </p:sp>
      <p:sp>
        <p:nvSpPr>
          <p:cNvPr id="43" name="Text 41"/>
          <p:cNvSpPr/>
          <p:nvPr/>
        </p:nvSpPr>
        <p:spPr>
          <a:xfrm>
            <a:off x="7406640" y="2651760"/>
            <a:ext cx="1143000" cy="384048"/>
          </a:xfrm>
          <a:prstGeom prst="rect">
            <a:avLst/>
          </a:prstGeom>
          <a:noFill/>
          <a:ln/>
        </p:spPr>
        <p:txBody>
          <a:bodyPr wrap="square" lIns="0" tIns="0" rIns="0" bIns="0" rtlCol="0" anchor="ctr"/>
          <a:lstStyle/>
          <a:p>
            <a:pPr algn="r" indent="0" marL="0">
              <a:buNone/>
            </a:pPr>
            <a:r>
              <a:rPr lang="en-US" sz="2000" b="1" dirty="0">
                <a:solidFill>
                  <a:srgbClr val="00A896"/>
                </a:solidFill>
                <a:latin typeface="Calibri" pitchFamily="34" charset="0"/>
                <a:ea typeface="Calibri" pitchFamily="34" charset="-122"/>
                <a:cs typeface="Calibri" pitchFamily="34" charset="-120"/>
              </a:rPr>
              <a:t>85.6%</a:t>
            </a:r>
            <a:endParaRPr lang="en-US" sz="2000" dirty="0"/>
          </a:p>
        </p:txBody>
      </p:sp>
      <p:sp>
        <p:nvSpPr>
          <p:cNvPr id="44" name="Shape 42"/>
          <p:cNvSpPr/>
          <p:nvPr/>
        </p:nvSpPr>
        <p:spPr>
          <a:xfrm>
            <a:off x="4251960" y="3236976"/>
            <a:ext cx="4389120" cy="530352"/>
          </a:xfrm>
          <a:prstGeom prst="rect">
            <a:avLst/>
          </a:prstGeom>
          <a:solidFill>
            <a:srgbClr val="112840"/>
          </a:solidFill>
          <a:ln w="12700">
            <a:solidFill>
              <a:srgbClr val="02C39A"/>
            </a:solidFill>
            <a:prstDash val="solid"/>
          </a:ln>
        </p:spPr>
      </p:sp>
      <p:sp>
        <p:nvSpPr>
          <p:cNvPr id="45" name="Shape 43"/>
          <p:cNvSpPr/>
          <p:nvPr/>
        </p:nvSpPr>
        <p:spPr>
          <a:xfrm>
            <a:off x="4315968" y="3355848"/>
            <a:ext cx="1371600" cy="292608"/>
          </a:xfrm>
          <a:prstGeom prst="roundRect">
            <a:avLst>
              <a:gd name="adj" fmla="val 25000"/>
            </a:avLst>
          </a:prstGeom>
          <a:solidFill>
            <a:srgbClr val="02C39A"/>
          </a:solidFill>
          <a:ln w="12700">
            <a:solidFill>
              <a:srgbClr val="02C39A"/>
            </a:solidFill>
            <a:prstDash val="solid"/>
          </a:ln>
        </p:spPr>
      </p:sp>
      <p:sp>
        <p:nvSpPr>
          <p:cNvPr id="46" name="Text 44"/>
          <p:cNvSpPr/>
          <p:nvPr/>
        </p:nvSpPr>
        <p:spPr>
          <a:xfrm>
            <a:off x="4315968" y="3374136"/>
            <a:ext cx="1371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S11</a:t>
            </a:r>
            <a:endParaRPr lang="en-US" sz="1100" dirty="0"/>
          </a:p>
        </p:txBody>
      </p:sp>
      <p:sp>
        <p:nvSpPr>
          <p:cNvPr id="47" name="Text 45"/>
          <p:cNvSpPr/>
          <p:nvPr/>
        </p:nvSpPr>
        <p:spPr>
          <a:xfrm>
            <a:off x="5806440" y="3355848"/>
            <a:ext cx="1828800" cy="274320"/>
          </a:xfrm>
          <a:prstGeom prst="rect">
            <a:avLst/>
          </a:prstGeom>
          <a:noFill/>
          <a:ln/>
        </p:spPr>
        <p:txBody>
          <a:bodyPr wrap="square" lIns="0" tIns="0" rIns="0" bIns="0" rtlCol="0" anchor="ctr"/>
          <a:lstStyle/>
          <a:p>
            <a:pPr indent="0" marL="0">
              <a:buNone/>
            </a:pPr>
            <a:r>
              <a:rPr lang="en-US" sz="1100" dirty="0">
                <a:solidFill>
                  <a:srgbClr val="C8D8E8"/>
                </a:solidFill>
                <a:latin typeface="Calibri" pitchFamily="34" charset="0"/>
                <a:ea typeface="Calibri" pitchFamily="34" charset="-122"/>
                <a:cs typeface="Calibri" pitchFamily="34" charset="-120"/>
              </a:rPr>
              <a:t>Layer3 unfrozen</a:t>
            </a:r>
            <a:endParaRPr lang="en-US" sz="1100" dirty="0"/>
          </a:p>
        </p:txBody>
      </p:sp>
      <p:sp>
        <p:nvSpPr>
          <p:cNvPr id="48" name="Text 46"/>
          <p:cNvSpPr/>
          <p:nvPr/>
        </p:nvSpPr>
        <p:spPr>
          <a:xfrm>
            <a:off x="7406640" y="3310128"/>
            <a:ext cx="1143000" cy="384048"/>
          </a:xfrm>
          <a:prstGeom prst="rect">
            <a:avLst/>
          </a:prstGeom>
          <a:noFill/>
          <a:ln/>
        </p:spPr>
        <p:txBody>
          <a:bodyPr wrap="square" lIns="0" tIns="0" rIns="0" bIns="0" rtlCol="0" anchor="ctr"/>
          <a:lstStyle/>
          <a:p>
            <a:pPr algn="r" indent="0" marL="0">
              <a:buNone/>
            </a:pPr>
            <a:r>
              <a:rPr lang="en-US" sz="2000" b="1" dirty="0">
                <a:solidFill>
                  <a:srgbClr val="02C39A"/>
                </a:solidFill>
                <a:latin typeface="Calibri" pitchFamily="34" charset="0"/>
                <a:ea typeface="Calibri" pitchFamily="34" charset="-122"/>
                <a:cs typeface="Calibri" pitchFamily="34" charset="-120"/>
              </a:rPr>
              <a:t>92.9%</a:t>
            </a:r>
            <a:endParaRPr lang="en-US" sz="2000" dirty="0"/>
          </a:p>
        </p:txBody>
      </p:sp>
      <p:sp>
        <p:nvSpPr>
          <p:cNvPr id="49" name="Shape 47"/>
          <p:cNvSpPr/>
          <p:nvPr/>
        </p:nvSpPr>
        <p:spPr>
          <a:xfrm>
            <a:off x="4251960" y="3977640"/>
            <a:ext cx="4389120" cy="822960"/>
          </a:xfrm>
          <a:prstGeom prst="rect">
            <a:avLst/>
          </a:prstGeom>
          <a:solidFill>
            <a:srgbClr val="0A1E2E"/>
          </a:solidFill>
          <a:ln w="12700">
            <a:solidFill>
              <a:srgbClr val="F4A261"/>
            </a:solidFill>
            <a:prstDash val="solid"/>
          </a:ln>
        </p:spPr>
      </p:sp>
      <p:sp>
        <p:nvSpPr>
          <p:cNvPr id="50" name="Text 48"/>
          <p:cNvSpPr/>
          <p:nvPr/>
        </p:nvSpPr>
        <p:spPr>
          <a:xfrm>
            <a:off x="4389120" y="4041648"/>
            <a:ext cx="4114800" cy="256032"/>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Layer3 &gt; Layer4 on upscaled 32px inputs</a:t>
            </a:r>
            <a:endParaRPr lang="en-US" sz="1200" dirty="0"/>
          </a:p>
        </p:txBody>
      </p:sp>
      <p:sp>
        <p:nvSpPr>
          <p:cNvPr id="51" name="Text 49"/>
          <p:cNvSpPr/>
          <p:nvPr/>
        </p:nvSpPr>
        <p:spPr>
          <a:xfrm>
            <a:off x="4389120" y="4297680"/>
            <a:ext cx="4114800" cy="438912"/>
          </a:xfrm>
          <a:prstGeom prst="rect">
            <a:avLst/>
          </a:prstGeom>
          <a:noFill/>
          <a:ln/>
        </p:spPr>
        <p:txBody>
          <a:bodyPr wrap="square" lIns="0" tIns="0" rIns="0" bIns="0" rtlCol="0" anchor="ctr"/>
          <a:lstStyle/>
          <a:p>
            <a:pPr indent="0" marL="0">
              <a:lnSpc>
                <a:spcPct val="125000"/>
              </a:lnSpc>
              <a:buNone/>
            </a:pPr>
            <a:r>
              <a:rPr lang="en-US" sz="950" dirty="0">
                <a:solidFill>
                  <a:srgbClr val="C8D8E8"/>
                </a:solidFill>
                <a:latin typeface="Calibri" pitchFamily="34" charset="0"/>
                <a:ea typeface="Calibri" pitchFamily="34" charset="-122"/>
                <a:cs typeface="Calibri" pitchFamily="34" charset="-120"/>
              </a:rPr>
              <a:t>Layer3 detects complex parts — still adapts to CIFAR patterns.</a:t>
            </a:r>
            <a:endParaRPr lang="en-US" sz="950" dirty="0"/>
          </a:p>
          <a:p>
            <a:pPr indent="0" marL="0">
              <a:lnSpc>
                <a:spcPct val="125000"/>
              </a:lnSpc>
              <a:buNone/>
            </a:pPr>
            <a:r>
              <a:rPr lang="en-US" sz="950" dirty="0">
                <a:solidFill>
                  <a:srgbClr val="C8D8E8"/>
                </a:solidFill>
                <a:latin typeface="Calibri" pitchFamily="34" charset="0"/>
                <a:ea typeface="Calibri" pitchFamily="34" charset="-122"/>
                <a:cs typeface="Calibri" pitchFamily="34" charset="-120"/>
              </a:rPr>
              <a:t>Layer4 encodes ImageNet-specific abstractions — less transferable at 32px.</a:t>
            </a:r>
            <a:endParaRPr lang="en-US" sz="950" dirty="0"/>
          </a:p>
        </p:txBody>
      </p:sp>
      <p:sp>
        <p:nvSpPr>
          <p:cNvPr id="52" name="Text 50"/>
          <p:cNvSpPr/>
          <p:nvPr/>
        </p:nvSpPr>
        <p:spPr>
          <a:xfrm>
            <a:off x="457200" y="4800600"/>
            <a:ext cx="8229600" cy="201168"/>
          </a:xfrm>
          <a:prstGeom prst="rect">
            <a:avLst/>
          </a:prstGeom>
          <a:noFill/>
          <a:ln/>
        </p:spPr>
        <p:txBody>
          <a:bodyPr wrap="square" lIns="0" tIns="0" rIns="0" bIns="0" rtlCol="0" anchor="ctr"/>
          <a:lstStyle/>
          <a:p>
            <a:pPr indent="0" marL="0">
              <a:buNone/>
            </a:pPr>
            <a:r>
              <a:rPr lang="en-US" sz="800" i="1" dirty="0">
                <a:solidFill>
                  <a:srgbClr val="7A9BB5"/>
                </a:solidFill>
                <a:latin typeface="Calibri" pitchFamily="34" charset="0"/>
                <a:ea typeface="Calibri" pitchFamily="34" charset="-122"/>
                <a:cs typeface="Calibri" pitchFamily="34" charset="-120"/>
              </a:rPr>
              <a:t>Transforms: Resize 32→224  ·  ImageNet norm  ·  No augmentation (controlled baseline)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800" b="1" dirty="0">
                <a:solidFill>
                  <a:srgbClr val="F4A261"/>
                </a:solidFill>
                <a:latin typeface="Calibri" pitchFamily="34" charset="0"/>
                <a:ea typeface="Calibri" pitchFamily="34" charset="-122"/>
                <a:cs typeface="Calibri" pitchFamily="34" charset="-120"/>
              </a:rPr>
              <a:t>03  Track 2 — From Scratch</a:t>
            </a:r>
            <a:endParaRPr lang="en-US" sz="2800" dirty="0"/>
          </a:p>
        </p:txBody>
      </p:sp>
      <p:sp>
        <p:nvSpPr>
          <p:cNvPr id="3" name="Shape 1"/>
          <p:cNvSpPr/>
          <p:nvPr/>
        </p:nvSpPr>
        <p:spPr>
          <a:xfrm>
            <a:off x="457200" y="804672"/>
            <a:ext cx="8229600" cy="27432"/>
          </a:xfrm>
          <a:prstGeom prst="rect">
            <a:avLst/>
          </a:prstGeom>
          <a:solidFill>
            <a:srgbClr val="F4A261"/>
          </a:solidFill>
          <a:ln w="12700">
            <a:solidFill>
              <a:srgbClr val="F4A261"/>
            </a:solidFill>
            <a:prstDash val="solid"/>
          </a:ln>
        </p:spPr>
      </p:sp>
      <p:sp>
        <p:nvSpPr>
          <p:cNvPr id="4" name="Shape 2"/>
          <p:cNvSpPr/>
          <p:nvPr/>
        </p:nvSpPr>
        <p:spPr>
          <a:xfrm>
            <a:off x="457200" y="960120"/>
            <a:ext cx="3474720" cy="3200400"/>
          </a:xfrm>
          <a:prstGeom prst="rect">
            <a:avLst/>
          </a:prstGeom>
          <a:solidFill>
            <a:srgbClr val="112840"/>
          </a:solidFill>
          <a:ln w="12700">
            <a:solidFill>
              <a:srgbClr val="F4A261"/>
            </a:solidFill>
            <a:prstDash val="solid"/>
          </a:ln>
        </p:spPr>
      </p:sp>
      <p:sp>
        <p:nvSpPr>
          <p:cNvPr id="5" name="Text 3"/>
          <p:cNvSpPr/>
          <p:nvPr/>
        </p:nvSpPr>
        <p:spPr>
          <a:xfrm>
            <a:off x="594360" y="1024128"/>
            <a:ext cx="320040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Key Architectural Decisions</a:t>
            </a:r>
            <a:endParaRPr lang="en-US" sz="1200" dirty="0"/>
          </a:p>
        </p:txBody>
      </p:sp>
      <p:sp>
        <p:nvSpPr>
          <p:cNvPr id="6" name="Text 4"/>
          <p:cNvSpPr/>
          <p:nvPr/>
        </p:nvSpPr>
        <p:spPr>
          <a:xfrm>
            <a:off x="594360" y="1371600"/>
            <a:ext cx="3200400" cy="2651760"/>
          </a:xfrm>
          <a:prstGeom prst="rect">
            <a:avLst/>
          </a:prstGeom>
          <a:noFill/>
          <a:ln/>
        </p:spPr>
        <p:txBody>
          <a:bodyPr wrap="square" rtlCol="0" anchor="ctr"/>
          <a:lstStyle/>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3×3 stem (vs. 7×7)</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No MaxPool — preserve 32px spatial context</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Bottleneck blocks [2,2,2,2] — lighter depth</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Kaiming (He) init — calibrated for ReLU</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Dropout 0.1 per block — no pretrained priors to regularize</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CIFAR-10 native normalization</a:t>
            </a:r>
            <a:endParaRPr lang="en-US" sz="1050" dirty="0"/>
          </a:p>
          <a:p>
            <a:pPr marL="342900" indent="-342900">
              <a:spcAft>
                <a:spcPts val="500"/>
              </a:spcAft>
              <a:buSzPct val="100000"/>
              <a:buChar char="•"/>
            </a:pPr>
            <a:r>
              <a:rPr lang="en-US" sz="1050" dirty="0">
                <a:solidFill>
                  <a:srgbClr val="C8D8E8"/>
                </a:solidFill>
                <a:latin typeface="Calibri" pitchFamily="34" charset="0"/>
                <a:ea typeface="Calibri" pitchFamily="34" charset="-122"/>
                <a:cs typeface="Calibri" pitchFamily="34" charset="-120"/>
              </a:rPr>
              <a:t>Data aug: RandomFlip + RandomCrop</a:t>
            </a:r>
            <a:endParaRPr lang="en-US" sz="1050" dirty="0"/>
          </a:p>
        </p:txBody>
      </p:sp>
      <p:sp>
        <p:nvSpPr>
          <p:cNvPr id="7" name="Text 5"/>
          <p:cNvSpPr/>
          <p:nvPr/>
        </p:nvSpPr>
        <p:spPr>
          <a:xfrm>
            <a:off x="4206240" y="914400"/>
            <a:ext cx="4572000" cy="274320"/>
          </a:xfrm>
          <a:prstGeom prst="rect">
            <a:avLst/>
          </a:prstGeom>
          <a:noFill/>
          <a:ln/>
        </p:spPr>
        <p:txBody>
          <a:bodyPr wrap="square" lIns="0" tIns="0" rIns="0" bIns="0" rtlCol="0" anchor="ctr"/>
          <a:lstStyle/>
          <a:p>
            <a:pPr indent="0" marL="0">
              <a:buNone/>
            </a:pPr>
            <a:r>
              <a:rPr lang="en-US" sz="1300" b="1" dirty="0">
                <a:solidFill>
                  <a:srgbClr val="C8D8E8"/>
                </a:solidFill>
                <a:latin typeface="Calibri" pitchFamily="34" charset="0"/>
                <a:ea typeface="Calibri" pitchFamily="34" charset="-122"/>
                <a:cs typeface="Calibri" pitchFamily="34" charset="-120"/>
              </a:rPr>
              <a:t>Phased Dataset Progression</a:t>
            </a:r>
            <a:endParaRPr lang="en-US" sz="1300" dirty="0"/>
          </a:p>
        </p:txBody>
      </p:sp>
      <p:sp>
        <p:nvSpPr>
          <p:cNvPr id="8" name="Shape 6"/>
          <p:cNvSpPr/>
          <p:nvPr/>
        </p:nvSpPr>
        <p:spPr>
          <a:xfrm>
            <a:off x="4206240" y="1261872"/>
            <a:ext cx="4434840" cy="621792"/>
          </a:xfrm>
          <a:prstGeom prst="rect">
            <a:avLst/>
          </a:prstGeom>
          <a:solidFill>
            <a:srgbClr val="112840"/>
          </a:solidFill>
          <a:ln w="12700">
            <a:solidFill>
              <a:srgbClr val="5A3E2B"/>
            </a:solidFill>
            <a:prstDash val="solid"/>
          </a:ln>
        </p:spPr>
      </p:sp>
      <p:sp>
        <p:nvSpPr>
          <p:cNvPr id="9" name="Text 7"/>
          <p:cNvSpPr/>
          <p:nvPr/>
        </p:nvSpPr>
        <p:spPr>
          <a:xfrm>
            <a:off x="4315968" y="1307592"/>
            <a:ext cx="1188720" cy="256032"/>
          </a:xfrm>
          <a:prstGeom prst="rect">
            <a:avLst/>
          </a:prstGeom>
          <a:noFill/>
          <a:ln/>
        </p:spPr>
        <p:txBody>
          <a:bodyPr wrap="square" lIns="0" tIns="0" rIns="0" bIns="0" rtlCol="0" anchor="ctr"/>
          <a:lstStyle/>
          <a:p>
            <a:pPr indent="0" marL="0">
              <a:buNone/>
            </a:pPr>
            <a:r>
              <a:rPr lang="en-US" sz="1100" b="1" dirty="0">
                <a:solidFill>
                  <a:srgbClr val="5A3E2B"/>
                </a:solidFill>
                <a:latin typeface="Calibri" pitchFamily="34" charset="0"/>
                <a:ea typeface="Calibri" pitchFamily="34" charset="-122"/>
                <a:cs typeface="Calibri" pitchFamily="34" charset="-120"/>
              </a:rPr>
              <a:t>Phase 1</a:t>
            </a:r>
            <a:endParaRPr lang="en-US" sz="1100" dirty="0"/>
          </a:p>
        </p:txBody>
      </p:sp>
      <p:sp>
        <p:nvSpPr>
          <p:cNvPr id="10" name="Text 8"/>
          <p:cNvSpPr/>
          <p:nvPr/>
        </p:nvSpPr>
        <p:spPr>
          <a:xfrm>
            <a:off x="4315968" y="1581912"/>
            <a:ext cx="1188720" cy="228600"/>
          </a:xfrm>
          <a:prstGeom prst="rect">
            <a:avLst/>
          </a:prstGeom>
          <a:noFill/>
          <a:ln/>
        </p:spPr>
        <p:txBody>
          <a:bodyPr wrap="square" lIns="0" tIns="0" rIns="0" bIns="0" rtlCol="0" anchor="ctr"/>
          <a:lstStyle/>
          <a:p>
            <a:pPr indent="0" marL="0">
              <a:buNone/>
            </a:pPr>
            <a:r>
              <a:rPr lang="en-US" sz="950" dirty="0">
                <a:solidFill>
                  <a:srgbClr val="7A9BB5"/>
                </a:solidFill>
                <a:latin typeface="Calibri" pitchFamily="34" charset="0"/>
                <a:ea typeface="Calibri" pitchFamily="34" charset="-122"/>
                <a:cs typeface="Calibri" pitchFamily="34" charset="-120"/>
              </a:rPr>
              <a:t>10k</a:t>
            </a:r>
            <a:endParaRPr lang="en-US" sz="950" dirty="0"/>
          </a:p>
        </p:txBody>
      </p:sp>
      <p:sp>
        <p:nvSpPr>
          <p:cNvPr id="11" name="Text 9"/>
          <p:cNvSpPr/>
          <p:nvPr/>
        </p:nvSpPr>
        <p:spPr>
          <a:xfrm>
            <a:off x="5577840" y="1307592"/>
            <a:ext cx="2103120" cy="50292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5 classes at 0% — class collapse</a:t>
            </a:r>
            <a:endParaRPr lang="en-US" sz="950" dirty="0"/>
          </a:p>
        </p:txBody>
      </p:sp>
      <p:sp>
        <p:nvSpPr>
          <p:cNvPr id="12" name="Text 10"/>
          <p:cNvSpPr/>
          <p:nvPr/>
        </p:nvSpPr>
        <p:spPr>
          <a:xfrm>
            <a:off x="7543800" y="1353312"/>
            <a:ext cx="1051560" cy="411480"/>
          </a:xfrm>
          <a:prstGeom prst="rect">
            <a:avLst/>
          </a:prstGeom>
          <a:noFill/>
          <a:ln/>
        </p:spPr>
        <p:txBody>
          <a:bodyPr wrap="square" lIns="0" tIns="0" rIns="0" bIns="0" rtlCol="0" anchor="ctr"/>
          <a:lstStyle/>
          <a:p>
            <a:pPr algn="r" indent="0" marL="0">
              <a:buNone/>
            </a:pPr>
            <a:r>
              <a:rPr lang="en-US" sz="2000" b="1" dirty="0">
                <a:solidFill>
                  <a:srgbClr val="5A3E2B"/>
                </a:solidFill>
                <a:latin typeface="Calibri" pitchFamily="34" charset="0"/>
                <a:ea typeface="Calibri" pitchFamily="34" charset="-122"/>
                <a:cs typeface="Calibri" pitchFamily="34" charset="-120"/>
              </a:rPr>
              <a:t>25.2%</a:t>
            </a:r>
            <a:endParaRPr lang="en-US" sz="2000" dirty="0"/>
          </a:p>
        </p:txBody>
      </p:sp>
      <p:sp>
        <p:nvSpPr>
          <p:cNvPr id="13" name="Shape 11"/>
          <p:cNvSpPr/>
          <p:nvPr/>
        </p:nvSpPr>
        <p:spPr>
          <a:xfrm>
            <a:off x="4206240" y="2011680"/>
            <a:ext cx="4434840" cy="621792"/>
          </a:xfrm>
          <a:prstGeom prst="rect">
            <a:avLst/>
          </a:prstGeom>
          <a:solidFill>
            <a:srgbClr val="112840"/>
          </a:solidFill>
          <a:ln w="12700">
            <a:solidFill>
              <a:srgbClr val="7A5230"/>
            </a:solidFill>
            <a:prstDash val="solid"/>
          </a:ln>
        </p:spPr>
      </p:sp>
      <p:sp>
        <p:nvSpPr>
          <p:cNvPr id="14" name="Text 12"/>
          <p:cNvSpPr/>
          <p:nvPr/>
        </p:nvSpPr>
        <p:spPr>
          <a:xfrm>
            <a:off x="4315968" y="2057400"/>
            <a:ext cx="1188720" cy="256032"/>
          </a:xfrm>
          <a:prstGeom prst="rect">
            <a:avLst/>
          </a:prstGeom>
          <a:noFill/>
          <a:ln/>
        </p:spPr>
        <p:txBody>
          <a:bodyPr wrap="square" lIns="0" tIns="0" rIns="0" bIns="0" rtlCol="0" anchor="ctr"/>
          <a:lstStyle/>
          <a:p>
            <a:pPr indent="0" marL="0">
              <a:buNone/>
            </a:pPr>
            <a:r>
              <a:rPr lang="en-US" sz="1100" b="1" dirty="0">
                <a:solidFill>
                  <a:srgbClr val="7A5230"/>
                </a:solidFill>
                <a:latin typeface="Calibri" pitchFamily="34" charset="0"/>
                <a:ea typeface="Calibri" pitchFamily="34" charset="-122"/>
                <a:cs typeface="Calibri" pitchFamily="34" charset="-120"/>
              </a:rPr>
              <a:t>Phase 2</a:t>
            </a:r>
            <a:endParaRPr lang="en-US" sz="1100" dirty="0"/>
          </a:p>
        </p:txBody>
      </p:sp>
      <p:sp>
        <p:nvSpPr>
          <p:cNvPr id="15" name="Text 13"/>
          <p:cNvSpPr/>
          <p:nvPr/>
        </p:nvSpPr>
        <p:spPr>
          <a:xfrm>
            <a:off x="4315968" y="2331720"/>
            <a:ext cx="1188720" cy="228600"/>
          </a:xfrm>
          <a:prstGeom prst="rect">
            <a:avLst/>
          </a:prstGeom>
          <a:noFill/>
          <a:ln/>
        </p:spPr>
        <p:txBody>
          <a:bodyPr wrap="square" lIns="0" tIns="0" rIns="0" bIns="0" rtlCol="0" anchor="ctr"/>
          <a:lstStyle/>
          <a:p>
            <a:pPr indent="0" marL="0">
              <a:buNone/>
            </a:pPr>
            <a:r>
              <a:rPr lang="en-US" sz="950" dirty="0">
                <a:solidFill>
                  <a:srgbClr val="7A9BB5"/>
                </a:solidFill>
                <a:latin typeface="Calibri" pitchFamily="34" charset="0"/>
                <a:ea typeface="Calibri" pitchFamily="34" charset="-122"/>
                <a:cs typeface="Calibri" pitchFamily="34" charset="-120"/>
              </a:rPr>
              <a:t>35k</a:t>
            </a:r>
            <a:endParaRPr lang="en-US" sz="950" dirty="0"/>
          </a:p>
        </p:txBody>
      </p:sp>
      <p:sp>
        <p:nvSpPr>
          <p:cNvPr id="16" name="Text 14"/>
          <p:cNvSpPr/>
          <p:nvPr/>
        </p:nvSpPr>
        <p:spPr>
          <a:xfrm>
            <a:off x="5577840" y="2057400"/>
            <a:ext cx="2103120" cy="50292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Cat &amp; deer still 0% — needs scale</a:t>
            </a:r>
            <a:endParaRPr lang="en-US" sz="950" dirty="0"/>
          </a:p>
        </p:txBody>
      </p:sp>
      <p:sp>
        <p:nvSpPr>
          <p:cNvPr id="17" name="Text 15"/>
          <p:cNvSpPr/>
          <p:nvPr/>
        </p:nvSpPr>
        <p:spPr>
          <a:xfrm>
            <a:off x="7543800" y="2103120"/>
            <a:ext cx="1051560" cy="411480"/>
          </a:xfrm>
          <a:prstGeom prst="rect">
            <a:avLst/>
          </a:prstGeom>
          <a:noFill/>
          <a:ln/>
        </p:spPr>
        <p:txBody>
          <a:bodyPr wrap="square" lIns="0" tIns="0" rIns="0" bIns="0" rtlCol="0" anchor="ctr"/>
          <a:lstStyle/>
          <a:p>
            <a:pPr algn="r" indent="0" marL="0">
              <a:buNone/>
            </a:pPr>
            <a:r>
              <a:rPr lang="en-US" sz="2000" b="1" dirty="0">
                <a:solidFill>
                  <a:srgbClr val="7A5230"/>
                </a:solidFill>
                <a:latin typeface="Calibri" pitchFamily="34" charset="0"/>
                <a:ea typeface="Calibri" pitchFamily="34" charset="-122"/>
                <a:cs typeface="Calibri" pitchFamily="34" charset="-120"/>
              </a:rPr>
              <a:t>49.2%</a:t>
            </a:r>
            <a:endParaRPr lang="en-US" sz="2000" dirty="0"/>
          </a:p>
        </p:txBody>
      </p:sp>
      <p:sp>
        <p:nvSpPr>
          <p:cNvPr id="18" name="Shape 16"/>
          <p:cNvSpPr/>
          <p:nvPr/>
        </p:nvSpPr>
        <p:spPr>
          <a:xfrm>
            <a:off x="4206240" y="2761488"/>
            <a:ext cx="4434840" cy="621792"/>
          </a:xfrm>
          <a:prstGeom prst="rect">
            <a:avLst/>
          </a:prstGeom>
          <a:solidFill>
            <a:srgbClr val="112840"/>
          </a:solidFill>
          <a:ln w="12700">
            <a:solidFill>
              <a:srgbClr val="F4A261"/>
            </a:solidFill>
            <a:prstDash val="solid"/>
          </a:ln>
        </p:spPr>
      </p:sp>
      <p:sp>
        <p:nvSpPr>
          <p:cNvPr id="19" name="Text 17"/>
          <p:cNvSpPr/>
          <p:nvPr/>
        </p:nvSpPr>
        <p:spPr>
          <a:xfrm>
            <a:off x="4315968" y="2807208"/>
            <a:ext cx="1188720" cy="256032"/>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Phase 3a</a:t>
            </a:r>
            <a:endParaRPr lang="en-US" sz="1100" dirty="0"/>
          </a:p>
        </p:txBody>
      </p:sp>
      <p:sp>
        <p:nvSpPr>
          <p:cNvPr id="20" name="Text 18"/>
          <p:cNvSpPr/>
          <p:nvPr/>
        </p:nvSpPr>
        <p:spPr>
          <a:xfrm>
            <a:off x="4315968" y="3081528"/>
            <a:ext cx="1188720" cy="228600"/>
          </a:xfrm>
          <a:prstGeom prst="rect">
            <a:avLst/>
          </a:prstGeom>
          <a:noFill/>
          <a:ln/>
        </p:spPr>
        <p:txBody>
          <a:bodyPr wrap="square" lIns="0" tIns="0" rIns="0" bIns="0" rtlCol="0" anchor="ctr"/>
          <a:lstStyle/>
          <a:p>
            <a:pPr indent="0" marL="0">
              <a:buNone/>
            </a:pPr>
            <a:r>
              <a:rPr lang="en-US" sz="950" dirty="0">
                <a:solidFill>
                  <a:srgbClr val="7A9BB5"/>
                </a:solidFill>
                <a:latin typeface="Calibri" pitchFamily="34" charset="0"/>
                <a:ea typeface="Calibri" pitchFamily="34" charset="-122"/>
                <a:cs typeface="Calibri" pitchFamily="34" charset="-120"/>
              </a:rPr>
              <a:t>50k</a:t>
            </a:r>
            <a:endParaRPr lang="en-US" sz="950" dirty="0"/>
          </a:p>
        </p:txBody>
      </p:sp>
      <p:sp>
        <p:nvSpPr>
          <p:cNvPr id="21" name="Text 19"/>
          <p:cNvSpPr/>
          <p:nvPr/>
        </p:nvSpPr>
        <p:spPr>
          <a:xfrm>
            <a:off x="5577840" y="2807208"/>
            <a:ext cx="2103120" cy="50292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Collapse resolves — cat reaches 27%</a:t>
            </a:r>
            <a:endParaRPr lang="en-US" sz="950" dirty="0"/>
          </a:p>
        </p:txBody>
      </p:sp>
      <p:sp>
        <p:nvSpPr>
          <p:cNvPr id="22" name="Text 20"/>
          <p:cNvSpPr/>
          <p:nvPr/>
        </p:nvSpPr>
        <p:spPr>
          <a:xfrm>
            <a:off x="7543800" y="2852928"/>
            <a:ext cx="1051560" cy="411480"/>
          </a:xfrm>
          <a:prstGeom prst="rect">
            <a:avLst/>
          </a:prstGeom>
          <a:noFill/>
          <a:ln/>
        </p:spPr>
        <p:txBody>
          <a:bodyPr wrap="square" lIns="0" tIns="0" rIns="0" bIns="0" rtlCol="0" anchor="ctr"/>
          <a:lstStyle/>
          <a:p>
            <a:pPr algn="r" indent="0" marL="0">
              <a:buNone/>
            </a:pPr>
            <a:r>
              <a:rPr lang="en-US" sz="2000" b="1" dirty="0">
                <a:solidFill>
                  <a:srgbClr val="F4A261"/>
                </a:solidFill>
                <a:latin typeface="Calibri" pitchFamily="34" charset="0"/>
                <a:ea typeface="Calibri" pitchFamily="34" charset="-122"/>
                <a:cs typeface="Calibri" pitchFamily="34" charset="-120"/>
              </a:rPr>
              <a:t>75.4%</a:t>
            </a:r>
            <a:endParaRPr lang="en-US" sz="2000" dirty="0"/>
          </a:p>
        </p:txBody>
      </p:sp>
      <p:sp>
        <p:nvSpPr>
          <p:cNvPr id="23" name="Shape 21"/>
          <p:cNvSpPr/>
          <p:nvPr/>
        </p:nvSpPr>
        <p:spPr>
          <a:xfrm>
            <a:off x="4206240" y="3511296"/>
            <a:ext cx="4434840" cy="621792"/>
          </a:xfrm>
          <a:prstGeom prst="rect">
            <a:avLst/>
          </a:prstGeom>
          <a:solidFill>
            <a:srgbClr val="112840"/>
          </a:solidFill>
          <a:ln w="12700">
            <a:solidFill>
              <a:srgbClr val="F4C261"/>
            </a:solidFill>
            <a:prstDash val="solid"/>
          </a:ln>
        </p:spPr>
      </p:sp>
      <p:sp>
        <p:nvSpPr>
          <p:cNvPr id="24" name="Text 22"/>
          <p:cNvSpPr/>
          <p:nvPr/>
        </p:nvSpPr>
        <p:spPr>
          <a:xfrm>
            <a:off x="4315968" y="3557016"/>
            <a:ext cx="1188720" cy="256032"/>
          </a:xfrm>
          <a:prstGeom prst="rect">
            <a:avLst/>
          </a:prstGeom>
          <a:noFill/>
          <a:ln/>
        </p:spPr>
        <p:txBody>
          <a:bodyPr wrap="square" lIns="0" tIns="0" rIns="0" bIns="0" rtlCol="0" anchor="ctr"/>
          <a:lstStyle/>
          <a:p>
            <a:pPr indent="0" marL="0">
              <a:buNone/>
            </a:pPr>
            <a:r>
              <a:rPr lang="en-US" sz="1100" b="1" dirty="0">
                <a:solidFill>
                  <a:srgbClr val="F4C261"/>
                </a:solidFill>
                <a:latin typeface="Calibri" pitchFamily="34" charset="0"/>
                <a:ea typeface="Calibri" pitchFamily="34" charset="-122"/>
                <a:cs typeface="Calibri" pitchFamily="34" charset="-120"/>
              </a:rPr>
              <a:t>Phase 3b</a:t>
            </a:r>
            <a:endParaRPr lang="en-US" sz="1100" dirty="0"/>
          </a:p>
        </p:txBody>
      </p:sp>
      <p:sp>
        <p:nvSpPr>
          <p:cNvPr id="25" name="Text 23"/>
          <p:cNvSpPr/>
          <p:nvPr/>
        </p:nvSpPr>
        <p:spPr>
          <a:xfrm>
            <a:off x="4315968" y="3831336"/>
            <a:ext cx="1188720" cy="228600"/>
          </a:xfrm>
          <a:prstGeom prst="rect">
            <a:avLst/>
          </a:prstGeom>
          <a:noFill/>
          <a:ln/>
        </p:spPr>
        <p:txBody>
          <a:bodyPr wrap="square" lIns="0" tIns="0" rIns="0" bIns="0" rtlCol="0" anchor="ctr"/>
          <a:lstStyle/>
          <a:p>
            <a:pPr indent="0" marL="0">
              <a:buNone/>
            </a:pPr>
            <a:r>
              <a:rPr lang="en-US" sz="950" dirty="0">
                <a:solidFill>
                  <a:srgbClr val="7A9BB5"/>
                </a:solidFill>
                <a:latin typeface="Calibri" pitchFamily="34" charset="0"/>
                <a:ea typeface="Calibri" pitchFamily="34" charset="-122"/>
                <a:cs typeface="Calibri" pitchFamily="34" charset="-120"/>
              </a:rPr>
              <a:t>50k+</a:t>
            </a:r>
            <a:endParaRPr lang="en-US" sz="950" dirty="0"/>
          </a:p>
        </p:txBody>
      </p:sp>
      <p:sp>
        <p:nvSpPr>
          <p:cNvPr id="26" name="Text 24"/>
          <p:cNvSpPr/>
          <p:nvPr/>
        </p:nvSpPr>
        <p:spPr>
          <a:xfrm>
            <a:off x="5577840" y="3557016"/>
            <a:ext cx="2103120" cy="50292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Cat 63.6%  ·  Early stop @ epoch 14</a:t>
            </a:r>
            <a:endParaRPr lang="en-US" sz="950" dirty="0"/>
          </a:p>
        </p:txBody>
      </p:sp>
      <p:sp>
        <p:nvSpPr>
          <p:cNvPr id="27" name="Text 25"/>
          <p:cNvSpPr/>
          <p:nvPr/>
        </p:nvSpPr>
        <p:spPr>
          <a:xfrm>
            <a:off x="7543800" y="3602736"/>
            <a:ext cx="1051560" cy="411480"/>
          </a:xfrm>
          <a:prstGeom prst="rect">
            <a:avLst/>
          </a:prstGeom>
          <a:noFill/>
          <a:ln/>
        </p:spPr>
        <p:txBody>
          <a:bodyPr wrap="square" lIns="0" tIns="0" rIns="0" bIns="0" rtlCol="0" anchor="ctr"/>
          <a:lstStyle/>
          <a:p>
            <a:pPr algn="r" indent="0" marL="0">
              <a:buNone/>
            </a:pPr>
            <a:r>
              <a:rPr lang="en-US" sz="2000" b="1" dirty="0">
                <a:solidFill>
                  <a:srgbClr val="F4C261"/>
                </a:solidFill>
                <a:latin typeface="Calibri" pitchFamily="34" charset="0"/>
                <a:ea typeface="Calibri" pitchFamily="34" charset="-122"/>
                <a:cs typeface="Calibri" pitchFamily="34" charset="-120"/>
              </a:rPr>
              <a:t>81.2%</a:t>
            </a:r>
            <a:endParaRPr lang="en-US" sz="2000" dirty="0"/>
          </a:p>
        </p:txBody>
      </p:sp>
      <p:sp>
        <p:nvSpPr>
          <p:cNvPr id="28" name="Shape 26"/>
          <p:cNvSpPr/>
          <p:nvPr/>
        </p:nvSpPr>
        <p:spPr>
          <a:xfrm>
            <a:off x="4206240" y="4315968"/>
            <a:ext cx="4434840" cy="548640"/>
          </a:xfrm>
          <a:prstGeom prst="rect">
            <a:avLst/>
          </a:prstGeom>
          <a:solidFill>
            <a:srgbClr val="0A1E2E"/>
          </a:solidFill>
          <a:ln w="12700">
            <a:solidFill>
              <a:srgbClr val="7A9BB5"/>
            </a:solidFill>
            <a:prstDash val="solid"/>
          </a:ln>
        </p:spPr>
      </p:sp>
      <p:sp>
        <p:nvSpPr>
          <p:cNvPr id="29" name="Text 27"/>
          <p:cNvSpPr/>
          <p:nvPr/>
        </p:nvSpPr>
        <p:spPr>
          <a:xfrm>
            <a:off x="4315968" y="4361688"/>
            <a:ext cx="1371600" cy="201168"/>
          </a:xfrm>
          <a:prstGeom prst="rect">
            <a:avLst/>
          </a:prstGeom>
          <a:noFill/>
          <a:ln/>
        </p:spPr>
        <p:txBody>
          <a:bodyPr wrap="square" lIns="0" tIns="0" rIns="0" bIns="0" rtlCol="0" anchor="ctr"/>
          <a:lstStyle/>
          <a:p>
            <a:pPr indent="0" marL="0">
              <a:buNone/>
            </a:pPr>
            <a:r>
              <a:rPr lang="en-US" sz="900" b="1" dirty="0">
                <a:solidFill>
                  <a:srgbClr val="7A9BB5"/>
                </a:solidFill>
                <a:latin typeface="Calibri" pitchFamily="34" charset="0"/>
                <a:ea typeface="Calibri" pitchFamily="34" charset="-122"/>
                <a:cs typeface="Calibri" pitchFamily="34" charset="-120"/>
              </a:rPr>
              <a:t>Surprising findings  →</a:t>
            </a:r>
            <a:endParaRPr lang="en-US" sz="900" dirty="0"/>
          </a:p>
        </p:txBody>
      </p:sp>
      <p:sp>
        <p:nvSpPr>
          <p:cNvPr id="30" name="Text 28"/>
          <p:cNvSpPr/>
          <p:nvPr/>
        </p:nvSpPr>
        <p:spPr>
          <a:xfrm>
            <a:off x="4315968" y="4562856"/>
            <a:ext cx="4206240" cy="228600"/>
          </a:xfrm>
          <a:prstGeom prst="rect">
            <a:avLst/>
          </a:prstGeom>
          <a:noFill/>
          <a:ln/>
        </p:spPr>
        <p:txBody>
          <a:bodyPr wrap="square" lIns="0" tIns="0" rIns="0" bIns="0" rtlCol="0" anchor="ctr"/>
          <a:lstStyle/>
          <a:p>
            <a:pPr indent="0" marL="0">
              <a:buNone/>
            </a:pPr>
            <a:r>
              <a:rPr lang="en-US" sz="900" dirty="0">
                <a:solidFill>
                  <a:srgbClr val="C8D8E8"/>
                </a:solidFill>
                <a:latin typeface="Calibri" pitchFamily="34" charset="0"/>
                <a:ea typeface="Calibri" pitchFamily="34" charset="-122"/>
                <a:cs typeface="Calibri" pitchFamily="34" charset="-120"/>
              </a:rPr>
              <a:t>More epochs needed  ·  min_delta critical  ·  Cats are lazy learners  ·  Breakthroughs in final ⅓ of epochs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04  What the Comparison Reveals</a:t>
            </a:r>
            <a:endParaRPr lang="en-US" sz="2800" dirty="0"/>
          </a:p>
        </p:txBody>
      </p:sp>
      <p:sp>
        <p:nvSpPr>
          <p:cNvPr id="3" name="Shape 1"/>
          <p:cNvSpPr/>
          <p:nvPr/>
        </p:nvSpPr>
        <p:spPr>
          <a:xfrm>
            <a:off x="457200" y="804672"/>
            <a:ext cx="8229600" cy="27432"/>
          </a:xfrm>
          <a:prstGeom prst="rect">
            <a:avLst/>
          </a:prstGeom>
          <a:solidFill>
            <a:srgbClr val="028090"/>
          </a:solidFill>
          <a:ln w="12700">
            <a:solidFill>
              <a:srgbClr val="028090"/>
            </a:solidFill>
            <a:prstDash val="solid"/>
          </a:ln>
        </p:spPr>
      </p:sp>
      <p:sp>
        <p:nvSpPr>
          <p:cNvPr id="4" name="Text 2"/>
          <p:cNvSpPr/>
          <p:nvPr/>
        </p:nvSpPr>
        <p:spPr>
          <a:xfrm>
            <a:off x="457200" y="960120"/>
            <a:ext cx="1828800" cy="292608"/>
          </a:xfrm>
          <a:prstGeom prst="rect">
            <a:avLst/>
          </a:prstGeom>
          <a:noFill/>
          <a:ln/>
        </p:spPr>
        <p:txBody>
          <a:bodyPr wrap="square" lIns="0" tIns="0" rIns="0" bIns="0"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Class</a:t>
            </a:r>
            <a:endParaRPr lang="en-US" sz="1000" dirty="0"/>
          </a:p>
        </p:txBody>
      </p:sp>
      <p:sp>
        <p:nvSpPr>
          <p:cNvPr id="5" name="Text 3"/>
          <p:cNvSpPr/>
          <p:nvPr/>
        </p:nvSpPr>
        <p:spPr>
          <a:xfrm>
            <a:off x="2286000" y="960120"/>
            <a:ext cx="960120" cy="292608"/>
          </a:xfrm>
          <a:prstGeom prst="rect">
            <a:avLst/>
          </a:prstGeom>
          <a:noFill/>
          <a:ln/>
        </p:spPr>
        <p:txBody>
          <a:bodyPr wrap="square" lIns="0" tIns="0" rIns="0" bIns="0" rtlCol="0" anchor="ctr"/>
          <a:lstStyle/>
          <a:p>
            <a:pPr algn="ctr" indent="0" marL="0">
              <a:buNone/>
            </a:pPr>
            <a:r>
              <a:rPr lang="en-US" sz="900" b="1" dirty="0">
                <a:solidFill>
                  <a:srgbClr val="028090"/>
                </a:solidFill>
                <a:latin typeface="Calibri" pitchFamily="34" charset="0"/>
                <a:ea typeface="Calibri" pitchFamily="34" charset="-122"/>
                <a:cs typeface="Calibri" pitchFamily="34" charset="-120"/>
              </a:rPr>
              <a:t>Track 1</a:t>
            </a:r>
            <a:endParaRPr lang="en-US" sz="900" dirty="0"/>
          </a:p>
          <a:p>
            <a:pPr algn="ctr" indent="0" marL="0">
              <a:buNone/>
            </a:pPr>
            <a:r>
              <a:rPr lang="en-US" sz="900" b="1" dirty="0">
                <a:solidFill>
                  <a:srgbClr val="028090"/>
                </a:solidFill>
                <a:latin typeface="Calibri" pitchFamily="34" charset="0"/>
                <a:ea typeface="Calibri" pitchFamily="34" charset="-122"/>
                <a:cs typeface="Calibri" pitchFamily="34" charset="-120"/>
              </a:rPr>
              <a:t>S11-R1</a:t>
            </a:r>
            <a:endParaRPr lang="en-US" sz="900" dirty="0"/>
          </a:p>
        </p:txBody>
      </p:sp>
      <p:sp>
        <p:nvSpPr>
          <p:cNvPr id="6" name="Text 4"/>
          <p:cNvSpPr/>
          <p:nvPr/>
        </p:nvSpPr>
        <p:spPr>
          <a:xfrm>
            <a:off x="3246120" y="960120"/>
            <a:ext cx="960120" cy="292608"/>
          </a:xfrm>
          <a:prstGeom prst="rect">
            <a:avLst/>
          </a:prstGeom>
          <a:noFill/>
          <a:ln/>
        </p:spPr>
        <p:txBody>
          <a:bodyPr wrap="square" lIns="0" tIns="0" rIns="0" bIns="0" rtlCol="0" anchor="ctr"/>
          <a:lstStyle/>
          <a:p>
            <a:pPr algn="ctr" indent="0" marL="0">
              <a:buNone/>
            </a:pPr>
            <a:r>
              <a:rPr lang="en-US" sz="900" b="1" dirty="0">
                <a:solidFill>
                  <a:srgbClr val="F4A261"/>
                </a:solidFill>
                <a:latin typeface="Calibri" pitchFamily="34" charset="0"/>
                <a:ea typeface="Calibri" pitchFamily="34" charset="-122"/>
                <a:cs typeface="Calibri" pitchFamily="34" charset="-120"/>
              </a:rPr>
              <a:t>Track 2</a:t>
            </a:r>
            <a:endParaRPr lang="en-US" sz="900" dirty="0"/>
          </a:p>
          <a:p>
            <a:pPr algn="ctr" indent="0" marL="0">
              <a:buNone/>
            </a:pPr>
            <a:r>
              <a:rPr lang="en-US" sz="900" b="1" dirty="0">
                <a:solidFill>
                  <a:srgbClr val="F4A261"/>
                </a:solidFill>
                <a:latin typeface="Calibri" pitchFamily="34" charset="0"/>
                <a:ea typeface="Calibri" pitchFamily="34" charset="-122"/>
                <a:cs typeface="Calibri" pitchFamily="34" charset="-120"/>
              </a:rPr>
              <a:t>Ph3b</a:t>
            </a:r>
            <a:endParaRPr lang="en-US" sz="900" dirty="0"/>
          </a:p>
        </p:txBody>
      </p:sp>
      <p:sp>
        <p:nvSpPr>
          <p:cNvPr id="7" name="Shape 5"/>
          <p:cNvSpPr/>
          <p:nvPr/>
        </p:nvSpPr>
        <p:spPr>
          <a:xfrm>
            <a:off x="457200" y="1307592"/>
            <a:ext cx="3749040" cy="310896"/>
          </a:xfrm>
          <a:prstGeom prst="rect">
            <a:avLst/>
          </a:prstGeom>
          <a:solidFill>
            <a:srgbClr val="112840"/>
          </a:solidFill>
          <a:ln w="12700">
            <a:solidFill>
              <a:srgbClr val="112840"/>
            </a:solidFill>
            <a:prstDash val="solid"/>
          </a:ln>
        </p:spPr>
      </p:sp>
      <p:sp>
        <p:nvSpPr>
          <p:cNvPr id="8" name="Text 6"/>
          <p:cNvSpPr/>
          <p:nvPr/>
        </p:nvSpPr>
        <p:spPr>
          <a:xfrm>
            <a:off x="548640" y="1353312"/>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airplane</a:t>
            </a:r>
            <a:endParaRPr lang="en-US" sz="1000" dirty="0"/>
          </a:p>
        </p:txBody>
      </p:sp>
      <p:sp>
        <p:nvSpPr>
          <p:cNvPr id="9" name="Text 7"/>
          <p:cNvSpPr/>
          <p:nvPr/>
        </p:nvSpPr>
        <p:spPr>
          <a:xfrm>
            <a:off x="2286000" y="1353312"/>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10" name="Text 8"/>
          <p:cNvSpPr/>
          <p:nvPr/>
        </p:nvSpPr>
        <p:spPr>
          <a:xfrm>
            <a:off x="3246120" y="1353312"/>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89%</a:t>
            </a:r>
            <a:endParaRPr lang="en-US" sz="1000" dirty="0"/>
          </a:p>
        </p:txBody>
      </p:sp>
      <p:sp>
        <p:nvSpPr>
          <p:cNvPr id="11" name="Shape 9"/>
          <p:cNvSpPr/>
          <p:nvPr/>
        </p:nvSpPr>
        <p:spPr>
          <a:xfrm>
            <a:off x="457200" y="1655064"/>
            <a:ext cx="3749040" cy="310896"/>
          </a:xfrm>
          <a:prstGeom prst="rect">
            <a:avLst/>
          </a:prstGeom>
          <a:solidFill>
            <a:srgbClr val="0D2137"/>
          </a:solidFill>
          <a:ln w="12700">
            <a:solidFill>
              <a:srgbClr val="112840"/>
            </a:solidFill>
            <a:prstDash val="solid"/>
          </a:ln>
        </p:spPr>
      </p:sp>
      <p:sp>
        <p:nvSpPr>
          <p:cNvPr id="12" name="Text 10"/>
          <p:cNvSpPr/>
          <p:nvPr/>
        </p:nvSpPr>
        <p:spPr>
          <a:xfrm>
            <a:off x="548640" y="1700784"/>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automobile</a:t>
            </a:r>
            <a:endParaRPr lang="en-US" sz="1000" dirty="0"/>
          </a:p>
        </p:txBody>
      </p:sp>
      <p:sp>
        <p:nvSpPr>
          <p:cNvPr id="13" name="Text 11"/>
          <p:cNvSpPr/>
          <p:nvPr/>
        </p:nvSpPr>
        <p:spPr>
          <a:xfrm>
            <a:off x="2286000" y="1700784"/>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14" name="Text 12"/>
          <p:cNvSpPr/>
          <p:nvPr/>
        </p:nvSpPr>
        <p:spPr>
          <a:xfrm>
            <a:off x="3246120" y="1700784"/>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95.3%</a:t>
            </a:r>
            <a:endParaRPr lang="en-US" sz="1000" dirty="0"/>
          </a:p>
        </p:txBody>
      </p:sp>
      <p:sp>
        <p:nvSpPr>
          <p:cNvPr id="15" name="Shape 13"/>
          <p:cNvSpPr/>
          <p:nvPr/>
        </p:nvSpPr>
        <p:spPr>
          <a:xfrm>
            <a:off x="457200" y="2002536"/>
            <a:ext cx="3749040" cy="310896"/>
          </a:xfrm>
          <a:prstGeom prst="rect">
            <a:avLst/>
          </a:prstGeom>
          <a:solidFill>
            <a:srgbClr val="112840"/>
          </a:solidFill>
          <a:ln w="12700">
            <a:solidFill>
              <a:srgbClr val="112840"/>
            </a:solidFill>
            <a:prstDash val="solid"/>
          </a:ln>
        </p:spPr>
      </p:sp>
      <p:sp>
        <p:nvSpPr>
          <p:cNvPr id="16" name="Text 14"/>
          <p:cNvSpPr/>
          <p:nvPr/>
        </p:nvSpPr>
        <p:spPr>
          <a:xfrm>
            <a:off x="548640" y="2048256"/>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bird</a:t>
            </a:r>
            <a:endParaRPr lang="en-US" sz="1000" dirty="0"/>
          </a:p>
        </p:txBody>
      </p:sp>
      <p:sp>
        <p:nvSpPr>
          <p:cNvPr id="17" name="Text 15"/>
          <p:cNvSpPr/>
          <p:nvPr/>
        </p:nvSpPr>
        <p:spPr>
          <a:xfrm>
            <a:off x="2286000" y="2048256"/>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18" name="Text 16"/>
          <p:cNvSpPr/>
          <p:nvPr/>
        </p:nvSpPr>
        <p:spPr>
          <a:xfrm>
            <a:off x="3246120" y="2048256"/>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77.2%</a:t>
            </a:r>
            <a:endParaRPr lang="en-US" sz="1000" dirty="0"/>
          </a:p>
        </p:txBody>
      </p:sp>
      <p:sp>
        <p:nvSpPr>
          <p:cNvPr id="19" name="Shape 17"/>
          <p:cNvSpPr/>
          <p:nvPr/>
        </p:nvSpPr>
        <p:spPr>
          <a:xfrm>
            <a:off x="457200" y="2350008"/>
            <a:ext cx="3749040" cy="310896"/>
          </a:xfrm>
          <a:prstGeom prst="rect">
            <a:avLst/>
          </a:prstGeom>
          <a:solidFill>
            <a:srgbClr val="0D2137"/>
          </a:solidFill>
          <a:ln w="12700">
            <a:solidFill>
              <a:srgbClr val="F4A261"/>
            </a:solidFill>
            <a:prstDash val="solid"/>
          </a:ln>
        </p:spPr>
      </p:sp>
      <p:sp>
        <p:nvSpPr>
          <p:cNvPr id="20" name="Text 18"/>
          <p:cNvSpPr/>
          <p:nvPr/>
        </p:nvSpPr>
        <p:spPr>
          <a:xfrm>
            <a:off x="548640" y="2395728"/>
            <a:ext cx="1737360" cy="219456"/>
          </a:xfrm>
          <a:prstGeom prst="rect">
            <a:avLst/>
          </a:prstGeom>
          <a:noFill/>
          <a:ln/>
        </p:spPr>
        <p:txBody>
          <a:bodyPr wrap="square" lIns="0" tIns="0" rIns="0" bIns="0" rtlCol="0" anchor="ctr"/>
          <a:lstStyle/>
          <a:p>
            <a:pPr indent="0" marL="0">
              <a:buNone/>
            </a:pPr>
            <a:r>
              <a:rPr lang="en-US" sz="1000" b="1" dirty="0">
                <a:solidFill>
                  <a:srgbClr val="F4A261"/>
                </a:solidFill>
                <a:latin typeface="Calibri" pitchFamily="34" charset="0"/>
                <a:ea typeface="Calibri" pitchFamily="34" charset="-122"/>
                <a:cs typeface="Calibri" pitchFamily="34" charset="-120"/>
              </a:rPr>
              <a:t>cat</a:t>
            </a:r>
            <a:endParaRPr lang="en-US" sz="1000" dirty="0"/>
          </a:p>
        </p:txBody>
      </p:sp>
      <p:sp>
        <p:nvSpPr>
          <p:cNvPr id="21" name="Text 19"/>
          <p:cNvSpPr/>
          <p:nvPr/>
        </p:nvSpPr>
        <p:spPr>
          <a:xfrm>
            <a:off x="2286000" y="2395728"/>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22" name="Text 20"/>
          <p:cNvSpPr/>
          <p:nvPr/>
        </p:nvSpPr>
        <p:spPr>
          <a:xfrm>
            <a:off x="3246120" y="2395728"/>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63.6%</a:t>
            </a:r>
            <a:endParaRPr lang="en-US" sz="1000" dirty="0"/>
          </a:p>
        </p:txBody>
      </p:sp>
      <p:sp>
        <p:nvSpPr>
          <p:cNvPr id="23" name="Shape 21"/>
          <p:cNvSpPr/>
          <p:nvPr/>
        </p:nvSpPr>
        <p:spPr>
          <a:xfrm>
            <a:off x="457200" y="2697480"/>
            <a:ext cx="3749040" cy="310896"/>
          </a:xfrm>
          <a:prstGeom prst="rect">
            <a:avLst/>
          </a:prstGeom>
          <a:solidFill>
            <a:srgbClr val="112840"/>
          </a:solidFill>
          <a:ln w="12700">
            <a:solidFill>
              <a:srgbClr val="F4A261"/>
            </a:solidFill>
            <a:prstDash val="solid"/>
          </a:ln>
        </p:spPr>
      </p:sp>
      <p:sp>
        <p:nvSpPr>
          <p:cNvPr id="24" name="Text 22"/>
          <p:cNvSpPr/>
          <p:nvPr/>
        </p:nvSpPr>
        <p:spPr>
          <a:xfrm>
            <a:off x="548640" y="2743200"/>
            <a:ext cx="1737360" cy="219456"/>
          </a:xfrm>
          <a:prstGeom prst="rect">
            <a:avLst/>
          </a:prstGeom>
          <a:noFill/>
          <a:ln/>
        </p:spPr>
        <p:txBody>
          <a:bodyPr wrap="square" lIns="0" tIns="0" rIns="0" bIns="0" rtlCol="0" anchor="ctr"/>
          <a:lstStyle/>
          <a:p>
            <a:pPr indent="0" marL="0">
              <a:buNone/>
            </a:pPr>
            <a:r>
              <a:rPr lang="en-US" sz="1000" b="1" dirty="0">
                <a:solidFill>
                  <a:srgbClr val="F4A261"/>
                </a:solidFill>
                <a:latin typeface="Calibri" pitchFamily="34" charset="0"/>
                <a:ea typeface="Calibri" pitchFamily="34" charset="-122"/>
                <a:cs typeface="Calibri" pitchFamily="34" charset="-120"/>
              </a:rPr>
              <a:t>deer</a:t>
            </a:r>
            <a:endParaRPr lang="en-US" sz="1000" dirty="0"/>
          </a:p>
        </p:txBody>
      </p:sp>
      <p:sp>
        <p:nvSpPr>
          <p:cNvPr id="25" name="Text 23"/>
          <p:cNvSpPr/>
          <p:nvPr/>
        </p:nvSpPr>
        <p:spPr>
          <a:xfrm>
            <a:off x="2286000" y="2743200"/>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26" name="Text 24"/>
          <p:cNvSpPr/>
          <p:nvPr/>
        </p:nvSpPr>
        <p:spPr>
          <a:xfrm>
            <a:off x="3246120" y="2743200"/>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72.7%</a:t>
            </a:r>
            <a:endParaRPr lang="en-US" sz="1000" dirty="0"/>
          </a:p>
        </p:txBody>
      </p:sp>
      <p:sp>
        <p:nvSpPr>
          <p:cNvPr id="27" name="Shape 25"/>
          <p:cNvSpPr/>
          <p:nvPr/>
        </p:nvSpPr>
        <p:spPr>
          <a:xfrm>
            <a:off x="457200" y="3044952"/>
            <a:ext cx="3749040" cy="310896"/>
          </a:xfrm>
          <a:prstGeom prst="rect">
            <a:avLst/>
          </a:prstGeom>
          <a:solidFill>
            <a:srgbClr val="0D2137"/>
          </a:solidFill>
          <a:ln w="12700">
            <a:solidFill>
              <a:srgbClr val="F4A261"/>
            </a:solidFill>
            <a:prstDash val="solid"/>
          </a:ln>
        </p:spPr>
      </p:sp>
      <p:sp>
        <p:nvSpPr>
          <p:cNvPr id="28" name="Text 26"/>
          <p:cNvSpPr/>
          <p:nvPr/>
        </p:nvSpPr>
        <p:spPr>
          <a:xfrm>
            <a:off x="548640" y="3090672"/>
            <a:ext cx="1737360" cy="219456"/>
          </a:xfrm>
          <a:prstGeom prst="rect">
            <a:avLst/>
          </a:prstGeom>
          <a:noFill/>
          <a:ln/>
        </p:spPr>
        <p:txBody>
          <a:bodyPr wrap="square" lIns="0" tIns="0" rIns="0" bIns="0" rtlCol="0" anchor="ctr"/>
          <a:lstStyle/>
          <a:p>
            <a:pPr indent="0" marL="0">
              <a:buNone/>
            </a:pPr>
            <a:r>
              <a:rPr lang="en-US" sz="1000" b="1" dirty="0">
                <a:solidFill>
                  <a:srgbClr val="F4A261"/>
                </a:solidFill>
                <a:latin typeface="Calibri" pitchFamily="34" charset="0"/>
                <a:ea typeface="Calibri" pitchFamily="34" charset="-122"/>
                <a:cs typeface="Calibri" pitchFamily="34" charset="-120"/>
              </a:rPr>
              <a:t>dog</a:t>
            </a:r>
            <a:endParaRPr lang="en-US" sz="1000" dirty="0"/>
          </a:p>
        </p:txBody>
      </p:sp>
      <p:sp>
        <p:nvSpPr>
          <p:cNvPr id="29" name="Text 27"/>
          <p:cNvSpPr/>
          <p:nvPr/>
        </p:nvSpPr>
        <p:spPr>
          <a:xfrm>
            <a:off x="2286000" y="3090672"/>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30" name="Text 28"/>
          <p:cNvSpPr/>
          <p:nvPr/>
        </p:nvSpPr>
        <p:spPr>
          <a:xfrm>
            <a:off x="3246120" y="3090672"/>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68.4%</a:t>
            </a:r>
            <a:endParaRPr lang="en-US" sz="1000" dirty="0"/>
          </a:p>
        </p:txBody>
      </p:sp>
      <p:sp>
        <p:nvSpPr>
          <p:cNvPr id="31" name="Shape 29"/>
          <p:cNvSpPr/>
          <p:nvPr/>
        </p:nvSpPr>
        <p:spPr>
          <a:xfrm>
            <a:off x="457200" y="3392424"/>
            <a:ext cx="3749040" cy="310896"/>
          </a:xfrm>
          <a:prstGeom prst="rect">
            <a:avLst/>
          </a:prstGeom>
          <a:solidFill>
            <a:srgbClr val="112840"/>
          </a:solidFill>
          <a:ln w="12700">
            <a:solidFill>
              <a:srgbClr val="112840"/>
            </a:solidFill>
            <a:prstDash val="solid"/>
          </a:ln>
        </p:spPr>
      </p:sp>
      <p:sp>
        <p:nvSpPr>
          <p:cNvPr id="32" name="Text 30"/>
          <p:cNvSpPr/>
          <p:nvPr/>
        </p:nvSpPr>
        <p:spPr>
          <a:xfrm>
            <a:off x="548640" y="3438144"/>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frog</a:t>
            </a:r>
            <a:endParaRPr lang="en-US" sz="1000" dirty="0"/>
          </a:p>
        </p:txBody>
      </p:sp>
      <p:sp>
        <p:nvSpPr>
          <p:cNvPr id="33" name="Text 31"/>
          <p:cNvSpPr/>
          <p:nvPr/>
        </p:nvSpPr>
        <p:spPr>
          <a:xfrm>
            <a:off x="2286000" y="3438144"/>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34" name="Text 32"/>
          <p:cNvSpPr/>
          <p:nvPr/>
        </p:nvSpPr>
        <p:spPr>
          <a:xfrm>
            <a:off x="3246120" y="3438144"/>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82.5%</a:t>
            </a:r>
            <a:endParaRPr lang="en-US" sz="1000" dirty="0"/>
          </a:p>
        </p:txBody>
      </p:sp>
      <p:sp>
        <p:nvSpPr>
          <p:cNvPr id="35" name="Shape 33"/>
          <p:cNvSpPr/>
          <p:nvPr/>
        </p:nvSpPr>
        <p:spPr>
          <a:xfrm>
            <a:off x="457200" y="3739896"/>
            <a:ext cx="3749040" cy="310896"/>
          </a:xfrm>
          <a:prstGeom prst="rect">
            <a:avLst/>
          </a:prstGeom>
          <a:solidFill>
            <a:srgbClr val="0D2137"/>
          </a:solidFill>
          <a:ln w="12700">
            <a:solidFill>
              <a:srgbClr val="112840"/>
            </a:solidFill>
            <a:prstDash val="solid"/>
          </a:ln>
        </p:spPr>
      </p:sp>
      <p:sp>
        <p:nvSpPr>
          <p:cNvPr id="36" name="Text 34"/>
          <p:cNvSpPr/>
          <p:nvPr/>
        </p:nvSpPr>
        <p:spPr>
          <a:xfrm>
            <a:off x="548640" y="3785616"/>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horse</a:t>
            </a:r>
            <a:endParaRPr lang="en-US" sz="1000" dirty="0"/>
          </a:p>
        </p:txBody>
      </p:sp>
      <p:sp>
        <p:nvSpPr>
          <p:cNvPr id="37" name="Text 35"/>
          <p:cNvSpPr/>
          <p:nvPr/>
        </p:nvSpPr>
        <p:spPr>
          <a:xfrm>
            <a:off x="2286000" y="3785616"/>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38" name="Text 36"/>
          <p:cNvSpPr/>
          <p:nvPr/>
        </p:nvSpPr>
        <p:spPr>
          <a:xfrm>
            <a:off x="3246120" y="3785616"/>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88%</a:t>
            </a:r>
            <a:endParaRPr lang="en-US" sz="1000" dirty="0"/>
          </a:p>
        </p:txBody>
      </p:sp>
      <p:sp>
        <p:nvSpPr>
          <p:cNvPr id="39" name="Shape 37"/>
          <p:cNvSpPr/>
          <p:nvPr/>
        </p:nvSpPr>
        <p:spPr>
          <a:xfrm>
            <a:off x="457200" y="4087368"/>
            <a:ext cx="3749040" cy="310896"/>
          </a:xfrm>
          <a:prstGeom prst="rect">
            <a:avLst/>
          </a:prstGeom>
          <a:solidFill>
            <a:srgbClr val="112840"/>
          </a:solidFill>
          <a:ln w="12700">
            <a:solidFill>
              <a:srgbClr val="112840"/>
            </a:solidFill>
            <a:prstDash val="solid"/>
          </a:ln>
        </p:spPr>
      </p:sp>
      <p:sp>
        <p:nvSpPr>
          <p:cNvPr id="40" name="Text 38"/>
          <p:cNvSpPr/>
          <p:nvPr/>
        </p:nvSpPr>
        <p:spPr>
          <a:xfrm>
            <a:off x="548640" y="4133088"/>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ship</a:t>
            </a:r>
            <a:endParaRPr lang="en-US" sz="1000" dirty="0"/>
          </a:p>
        </p:txBody>
      </p:sp>
      <p:sp>
        <p:nvSpPr>
          <p:cNvPr id="41" name="Text 39"/>
          <p:cNvSpPr/>
          <p:nvPr/>
        </p:nvSpPr>
        <p:spPr>
          <a:xfrm>
            <a:off x="2286000" y="4133088"/>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42" name="Text 40"/>
          <p:cNvSpPr/>
          <p:nvPr/>
        </p:nvSpPr>
        <p:spPr>
          <a:xfrm>
            <a:off x="3246120" y="4133088"/>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90%</a:t>
            </a:r>
            <a:endParaRPr lang="en-US" sz="1000" dirty="0"/>
          </a:p>
        </p:txBody>
      </p:sp>
      <p:sp>
        <p:nvSpPr>
          <p:cNvPr id="43" name="Shape 41"/>
          <p:cNvSpPr/>
          <p:nvPr/>
        </p:nvSpPr>
        <p:spPr>
          <a:xfrm>
            <a:off x="457200" y="4434840"/>
            <a:ext cx="3749040" cy="310896"/>
          </a:xfrm>
          <a:prstGeom prst="rect">
            <a:avLst/>
          </a:prstGeom>
          <a:solidFill>
            <a:srgbClr val="0D2137"/>
          </a:solidFill>
          <a:ln w="12700">
            <a:solidFill>
              <a:srgbClr val="112840"/>
            </a:solidFill>
            <a:prstDash val="solid"/>
          </a:ln>
        </p:spPr>
      </p:sp>
      <p:sp>
        <p:nvSpPr>
          <p:cNvPr id="44" name="Text 42"/>
          <p:cNvSpPr/>
          <p:nvPr/>
        </p:nvSpPr>
        <p:spPr>
          <a:xfrm>
            <a:off x="548640" y="4480560"/>
            <a:ext cx="1737360" cy="219456"/>
          </a:xfrm>
          <a:prstGeom prst="rect">
            <a:avLst/>
          </a:prstGeom>
          <a:noFill/>
          <a:ln/>
        </p:spPr>
        <p:txBody>
          <a:bodyPr wrap="square" lIns="0" tIns="0" rIns="0" bIns="0" rtlCol="0" anchor="ctr"/>
          <a:lstStyle/>
          <a:p>
            <a:pPr indent="0" marL="0">
              <a:buNone/>
            </a:pPr>
            <a:r>
              <a:rPr lang="en-US" sz="1000" dirty="0">
                <a:solidFill>
                  <a:srgbClr val="C8D8E8"/>
                </a:solidFill>
                <a:latin typeface="Calibri" pitchFamily="34" charset="0"/>
                <a:ea typeface="Calibri" pitchFamily="34" charset="-122"/>
                <a:cs typeface="Calibri" pitchFamily="34" charset="-120"/>
              </a:rPr>
              <a:t>truck</a:t>
            </a:r>
            <a:endParaRPr lang="en-US" sz="1000" dirty="0"/>
          </a:p>
        </p:txBody>
      </p:sp>
      <p:sp>
        <p:nvSpPr>
          <p:cNvPr id="45" name="Text 43"/>
          <p:cNvSpPr/>
          <p:nvPr/>
        </p:nvSpPr>
        <p:spPr>
          <a:xfrm>
            <a:off x="2286000" y="4480560"/>
            <a:ext cx="960120" cy="219456"/>
          </a:xfrm>
          <a:prstGeom prst="rect">
            <a:avLst/>
          </a:prstGeom>
          <a:noFill/>
          <a:ln/>
        </p:spPr>
        <p:txBody>
          <a:bodyPr wrap="square" lIns="0" tIns="0" rIns="0" bIns="0" rtlCol="0" anchor="ctr"/>
          <a:lstStyle/>
          <a:p>
            <a:pPr algn="ctr" indent="0" marL="0">
              <a:buNone/>
            </a:pPr>
            <a:r>
              <a:rPr lang="en-US" sz="1000" dirty="0">
                <a:solidFill>
                  <a:srgbClr val="028090"/>
                </a:solidFill>
                <a:latin typeface="Calibri" pitchFamily="34" charset="0"/>
                <a:ea typeface="Calibri" pitchFamily="34" charset="-122"/>
                <a:cs typeface="Calibri" pitchFamily="34" charset="-120"/>
              </a:rPr>
              <a:t>92.9% *</a:t>
            </a:r>
            <a:endParaRPr lang="en-US" sz="1000" dirty="0"/>
          </a:p>
        </p:txBody>
      </p:sp>
      <p:sp>
        <p:nvSpPr>
          <p:cNvPr id="46" name="Text 44"/>
          <p:cNvSpPr/>
          <p:nvPr/>
        </p:nvSpPr>
        <p:spPr>
          <a:xfrm>
            <a:off x="3246120" y="4480560"/>
            <a:ext cx="960120" cy="219456"/>
          </a:xfrm>
          <a:prstGeom prst="rect">
            <a:avLst/>
          </a:prstGeom>
          <a:noFill/>
          <a:ln/>
        </p:spPr>
        <p:txBody>
          <a:bodyPr wrap="square" lIns="0" tIns="0" rIns="0" bIns="0" rtlCol="0" anchor="ctr"/>
          <a:lstStyle/>
          <a:p>
            <a:pPr algn="ctr" indent="0" marL="0">
              <a:buNone/>
            </a:pPr>
            <a:r>
              <a:rPr lang="en-US" sz="1000" dirty="0">
                <a:solidFill>
                  <a:srgbClr val="F4A261"/>
                </a:solidFill>
                <a:latin typeface="Calibri" pitchFamily="34" charset="0"/>
                <a:ea typeface="Calibri" pitchFamily="34" charset="-122"/>
                <a:cs typeface="Calibri" pitchFamily="34" charset="-120"/>
              </a:rPr>
              <a:t>85%</a:t>
            </a:r>
            <a:endParaRPr lang="en-US" sz="1000" dirty="0"/>
          </a:p>
        </p:txBody>
      </p:sp>
      <p:sp>
        <p:nvSpPr>
          <p:cNvPr id="47" name="Text 45"/>
          <p:cNvSpPr/>
          <p:nvPr/>
        </p:nvSpPr>
        <p:spPr>
          <a:xfrm>
            <a:off x="457200" y="4782312"/>
            <a:ext cx="3474720" cy="201168"/>
          </a:xfrm>
          <a:prstGeom prst="rect">
            <a:avLst/>
          </a:prstGeom>
          <a:noFill/>
          <a:ln/>
        </p:spPr>
        <p:txBody>
          <a:bodyPr wrap="square" lIns="0" tIns="0" rIns="0" bIns="0" rtlCol="0" anchor="ctr"/>
          <a:lstStyle/>
          <a:p>
            <a:pPr indent="0" marL="0">
              <a:buNone/>
            </a:pPr>
            <a:r>
              <a:rPr lang="en-US" sz="750" i="1" dirty="0">
                <a:solidFill>
                  <a:srgbClr val="7A9BB5"/>
                </a:solidFill>
                <a:latin typeface="Calibri" pitchFamily="34" charset="0"/>
                <a:ea typeface="Calibri" pitchFamily="34" charset="-122"/>
                <a:cs typeface="Calibri" pitchFamily="34" charset="-120"/>
              </a:rPr>
              <a:t>* Overall — per-class breakdown in GitHub appendix</a:t>
            </a:r>
            <a:endParaRPr lang="en-US" sz="750" dirty="0"/>
          </a:p>
        </p:txBody>
      </p:sp>
      <p:sp>
        <p:nvSpPr>
          <p:cNvPr id="48" name="Shape 46"/>
          <p:cNvSpPr/>
          <p:nvPr/>
        </p:nvSpPr>
        <p:spPr>
          <a:xfrm>
            <a:off x="4251960" y="960120"/>
            <a:ext cx="1920240" cy="868680"/>
          </a:xfrm>
          <a:prstGeom prst="rect">
            <a:avLst/>
          </a:prstGeom>
          <a:solidFill>
            <a:srgbClr val="112840"/>
          </a:solidFill>
          <a:ln w="12700">
            <a:solidFill>
              <a:srgbClr val="028090"/>
            </a:solidFill>
            <a:prstDash val="solid"/>
          </a:ln>
          <a:effectLst>
            <a:outerShdw sx="100000" sy="100000" kx="0" ky="0" algn="bl" rotWithShape="0" blurRad="101600" dist="38100" dir="8100000">
              <a:srgbClr val="000000">
                <a:alpha val="25000"/>
              </a:srgbClr>
            </a:outerShdw>
          </a:effectLst>
        </p:spPr>
      </p:sp>
      <p:sp>
        <p:nvSpPr>
          <p:cNvPr id="49" name="Text 47"/>
          <p:cNvSpPr/>
          <p:nvPr/>
        </p:nvSpPr>
        <p:spPr>
          <a:xfrm>
            <a:off x="4251960" y="996696"/>
            <a:ext cx="1920240" cy="457200"/>
          </a:xfrm>
          <a:prstGeom prst="rect">
            <a:avLst/>
          </a:prstGeom>
          <a:noFill/>
          <a:ln/>
        </p:spPr>
        <p:txBody>
          <a:bodyPr wrap="square" lIns="0" tIns="0" rIns="0" bIns="0" rtlCol="0" anchor="ctr"/>
          <a:lstStyle/>
          <a:p>
            <a:pPr algn="ctr" indent="0" marL="0">
              <a:buNone/>
            </a:pPr>
            <a:r>
              <a:rPr lang="en-US" sz="2600" b="1" dirty="0">
                <a:solidFill>
                  <a:srgbClr val="028090"/>
                </a:solidFill>
                <a:latin typeface="Calibri" pitchFamily="34" charset="0"/>
                <a:ea typeface="Calibri" pitchFamily="34" charset="-122"/>
                <a:cs typeface="Calibri" pitchFamily="34" charset="-120"/>
              </a:rPr>
              <a:t>92.9%</a:t>
            </a:r>
            <a:endParaRPr lang="en-US" sz="2600" dirty="0"/>
          </a:p>
        </p:txBody>
      </p:sp>
      <p:sp>
        <p:nvSpPr>
          <p:cNvPr id="50" name="Text 48"/>
          <p:cNvSpPr/>
          <p:nvPr/>
        </p:nvSpPr>
        <p:spPr>
          <a:xfrm>
            <a:off x="4251960" y="1435608"/>
            <a:ext cx="1920240" cy="320040"/>
          </a:xfrm>
          <a:prstGeom prst="rect">
            <a:avLst/>
          </a:prstGeom>
          <a:noFill/>
          <a:ln/>
        </p:spPr>
        <p:txBody>
          <a:bodyPr wrap="square" lIns="0" tIns="0" rIns="0" bIns="0" rtlCol="0" anchor="ctr"/>
          <a:lstStyle/>
          <a:p>
            <a:pPr algn="ctr" indent="0" marL="0">
              <a:buNone/>
            </a:pPr>
            <a:r>
              <a:rPr lang="en-US" sz="950" dirty="0">
                <a:solidFill>
                  <a:srgbClr val="C8D8E8"/>
                </a:solidFill>
                <a:latin typeface="Calibri" pitchFamily="34" charset="0"/>
                <a:ea typeface="Calibri" pitchFamily="34" charset="-122"/>
                <a:cs typeface="Calibri" pitchFamily="34" charset="-120"/>
              </a:rPr>
              <a:t>Track 1 — S11-R1</a:t>
            </a:r>
            <a:endParaRPr lang="en-US" sz="950" dirty="0"/>
          </a:p>
        </p:txBody>
      </p:sp>
      <p:sp>
        <p:nvSpPr>
          <p:cNvPr id="51" name="Shape 49"/>
          <p:cNvSpPr/>
          <p:nvPr/>
        </p:nvSpPr>
        <p:spPr>
          <a:xfrm>
            <a:off x="6309360" y="960120"/>
            <a:ext cx="1920240" cy="868680"/>
          </a:xfrm>
          <a:prstGeom prst="rect">
            <a:avLst/>
          </a:prstGeom>
          <a:solidFill>
            <a:srgbClr val="112840"/>
          </a:solidFill>
          <a:ln w="12700">
            <a:solidFill>
              <a:srgbClr val="F4A261"/>
            </a:solidFill>
            <a:prstDash val="solid"/>
          </a:ln>
          <a:effectLst>
            <a:outerShdw sx="100000" sy="100000" kx="0" ky="0" algn="bl" rotWithShape="0" blurRad="101600" dist="38100" dir="8100000">
              <a:srgbClr val="000000">
                <a:alpha val="25000"/>
              </a:srgbClr>
            </a:outerShdw>
          </a:effectLst>
        </p:spPr>
      </p:sp>
      <p:sp>
        <p:nvSpPr>
          <p:cNvPr id="52" name="Text 50"/>
          <p:cNvSpPr/>
          <p:nvPr/>
        </p:nvSpPr>
        <p:spPr>
          <a:xfrm>
            <a:off x="6309360" y="996696"/>
            <a:ext cx="1920240" cy="457200"/>
          </a:xfrm>
          <a:prstGeom prst="rect">
            <a:avLst/>
          </a:prstGeom>
          <a:noFill/>
          <a:ln/>
        </p:spPr>
        <p:txBody>
          <a:bodyPr wrap="square" lIns="0" tIns="0" rIns="0" bIns="0" rtlCol="0" anchor="ctr"/>
          <a:lstStyle/>
          <a:p>
            <a:pPr algn="ctr" indent="0" marL="0">
              <a:buNone/>
            </a:pPr>
            <a:r>
              <a:rPr lang="en-US" sz="2600" b="1" dirty="0">
                <a:solidFill>
                  <a:srgbClr val="F4A261"/>
                </a:solidFill>
                <a:latin typeface="Calibri" pitchFamily="34" charset="0"/>
                <a:ea typeface="Calibri" pitchFamily="34" charset="-122"/>
                <a:cs typeface="Calibri" pitchFamily="34" charset="-120"/>
              </a:rPr>
              <a:t>81.2%</a:t>
            </a:r>
            <a:endParaRPr lang="en-US" sz="2600" dirty="0"/>
          </a:p>
        </p:txBody>
      </p:sp>
      <p:sp>
        <p:nvSpPr>
          <p:cNvPr id="53" name="Text 51"/>
          <p:cNvSpPr/>
          <p:nvPr/>
        </p:nvSpPr>
        <p:spPr>
          <a:xfrm>
            <a:off x="6309360" y="1435608"/>
            <a:ext cx="1920240" cy="320040"/>
          </a:xfrm>
          <a:prstGeom prst="rect">
            <a:avLst/>
          </a:prstGeom>
          <a:noFill/>
          <a:ln/>
        </p:spPr>
        <p:txBody>
          <a:bodyPr wrap="square" lIns="0" tIns="0" rIns="0" bIns="0" rtlCol="0" anchor="ctr"/>
          <a:lstStyle/>
          <a:p>
            <a:pPr algn="ctr" indent="0" marL="0">
              <a:buNone/>
            </a:pPr>
            <a:r>
              <a:rPr lang="en-US" sz="950" dirty="0">
                <a:solidFill>
                  <a:srgbClr val="C8D8E8"/>
                </a:solidFill>
                <a:latin typeface="Calibri" pitchFamily="34" charset="0"/>
                <a:ea typeface="Calibri" pitchFamily="34" charset="-122"/>
                <a:cs typeface="Calibri" pitchFamily="34" charset="-120"/>
              </a:rPr>
              <a:t>Track 2 — Phase 3b</a:t>
            </a:r>
            <a:endParaRPr lang="en-US" sz="950" dirty="0"/>
          </a:p>
        </p:txBody>
      </p:sp>
      <p:sp>
        <p:nvSpPr>
          <p:cNvPr id="54" name="Text 52"/>
          <p:cNvSpPr/>
          <p:nvPr/>
        </p:nvSpPr>
        <p:spPr>
          <a:xfrm>
            <a:off x="4251960" y="1920240"/>
            <a:ext cx="43434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11.7pp gap = value of pretrained init</a:t>
            </a:r>
            <a:endParaRPr lang="en-US" sz="1050" dirty="0"/>
          </a:p>
        </p:txBody>
      </p:sp>
      <p:sp>
        <p:nvSpPr>
          <p:cNvPr id="55" name="Text 53"/>
          <p:cNvSpPr/>
          <p:nvPr/>
        </p:nvSpPr>
        <p:spPr>
          <a:xfrm>
            <a:off x="4251960" y="2167128"/>
            <a:ext cx="4343400" cy="228600"/>
          </a:xfrm>
          <a:prstGeom prst="rect">
            <a:avLst/>
          </a:prstGeom>
          <a:noFill/>
          <a:ln/>
        </p:spPr>
        <p:txBody>
          <a:bodyPr wrap="square" lIns="0" tIns="0" rIns="0" bIns="0" rtlCol="0" anchor="ctr"/>
          <a:lstStyle/>
          <a:p>
            <a:pPr indent="0" marL="0">
              <a:buNone/>
            </a:pPr>
            <a:r>
              <a:rPr lang="en-US" sz="950" i="1" dirty="0">
                <a:solidFill>
                  <a:srgbClr val="7A9BB5"/>
                </a:solidFill>
                <a:latin typeface="Calibri" pitchFamily="34" charset="0"/>
                <a:ea typeface="Calibri" pitchFamily="34" charset="-122"/>
                <a:cs typeface="Calibri" pitchFamily="34" charset="-120"/>
              </a:rPr>
              <a:t>Same dataset size. Same architecture family. Different initialization.</a:t>
            </a:r>
            <a:endParaRPr lang="en-US" sz="950" dirty="0"/>
          </a:p>
        </p:txBody>
      </p:sp>
      <p:sp>
        <p:nvSpPr>
          <p:cNvPr id="56" name="Text 54"/>
          <p:cNvSpPr/>
          <p:nvPr/>
        </p:nvSpPr>
        <p:spPr>
          <a:xfrm>
            <a:off x="4251960" y="2514600"/>
            <a:ext cx="4343400" cy="246888"/>
          </a:xfrm>
          <a:prstGeom prst="rect">
            <a:avLst/>
          </a:prstGeom>
          <a:noFill/>
          <a:ln/>
        </p:spPr>
        <p:txBody>
          <a:bodyPr wrap="square" lIns="0" tIns="0" rIns="0" bIns="0"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Gradient Monitoring — Phase 3b (stem is doing the heavy lifting)</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51960" y="2816352"/>
          <a:ext cx="4343400" cy="914400"/>
        </p:xfrm>
        <a:graphic>
          <a:graphicData uri="http://schemas.openxmlformats.org/drawingml/2006/table">
            <a:tbl>
              <a:tblPr/>
              <a:tblGrid>
                <a:gridCol w="502920"/>
                <a:gridCol w="804672"/>
                <a:gridCol w="804672"/>
                <a:gridCol w="804672"/>
                <a:gridCol w="804672"/>
                <a:gridCol w="621792"/>
              </a:tblGrid>
              <a:tr h="22860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Epoch</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stem</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layer1</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layer2</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layer3</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layer4</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A1628"/>
                    </a:solidFill>
                  </a:tcPr>
                </a:tc>
              </a:tr>
              <a:tr h="228600">
                <a:tc>
                  <a:txBody>
                    <a:bodyPr/>
                    <a:lstStyle/>
                    <a:p>
                      <a:pPr algn="l" indent="0" marL="0">
                        <a:buNone/>
                      </a:pPr>
                      <a:r>
                        <a:rPr lang="en-US" sz="850" dirty="0">
                          <a:solidFill>
                            <a:srgbClr val="C8D8E8"/>
                          </a:solidFill>
                          <a:latin typeface="Calibri" pitchFamily="34" charset="0"/>
                          <a:ea typeface="Calibri" pitchFamily="34" charset="-122"/>
                          <a:cs typeface="Calibri" pitchFamily="34" charset="-120"/>
                        </a:rPr>
                        <a:t>01</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b="1" dirty="0">
                          <a:solidFill>
                            <a:srgbClr val="02C39A"/>
                          </a:solidFill>
                          <a:latin typeface="Calibri" pitchFamily="34" charset="0"/>
                          <a:ea typeface="Calibri" pitchFamily="34" charset="-122"/>
                          <a:cs typeface="Calibri" pitchFamily="34" charset="-120"/>
                        </a:rPr>
                        <a:t>0.0619</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0.0082</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0.0033</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0.0017</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0.0011</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r>
              <a:tr h="228600">
                <a:tc>
                  <a:txBody>
                    <a:bodyPr/>
                    <a:lstStyle/>
                    <a:p>
                      <a:pPr algn="l" indent="0" marL="0">
                        <a:buNone/>
                      </a:pPr>
                      <a:r>
                        <a:rPr lang="en-US" sz="850" dirty="0">
                          <a:solidFill>
                            <a:srgbClr val="C8D8E8"/>
                          </a:solidFill>
                          <a:latin typeface="Calibri" pitchFamily="34" charset="0"/>
                          <a:ea typeface="Calibri" pitchFamily="34" charset="-122"/>
                          <a:cs typeface="Calibri" pitchFamily="34" charset="-120"/>
                        </a:rPr>
                        <a:t>09</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c>
                  <a:txBody>
                    <a:bodyPr/>
                    <a:lstStyle/>
                    <a:p>
                      <a:pPr algn="ctr" indent="0" marL="0">
                        <a:buNone/>
                      </a:pPr>
                      <a:r>
                        <a:rPr lang="en-US" sz="850" b="1" dirty="0">
                          <a:solidFill>
                            <a:srgbClr val="02C39A"/>
                          </a:solidFill>
                          <a:latin typeface="Calibri" pitchFamily="34" charset="0"/>
                          <a:ea typeface="Calibri" pitchFamily="34" charset="-122"/>
                          <a:cs typeface="Calibri" pitchFamily="34" charset="-120"/>
                        </a:rPr>
                        <a:t>0.0755</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0.0082</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0.0032</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0.0017</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0.0010</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112840"/>
                    </a:solidFill>
                  </a:tcPr>
                </a:tc>
              </a:tr>
              <a:tr h="228600">
                <a:tc>
                  <a:txBody>
                    <a:bodyPr/>
                    <a:lstStyle/>
                    <a:p>
                      <a:pPr algn="l" indent="0" marL="0">
                        <a:buNone/>
                      </a:pPr>
                      <a:r>
                        <a:rPr lang="en-US" sz="850" dirty="0">
                          <a:solidFill>
                            <a:srgbClr val="C8D8E8"/>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b="1" dirty="0">
                          <a:solidFill>
                            <a:srgbClr val="02C39A"/>
                          </a:solidFill>
                          <a:latin typeface="Calibri" pitchFamily="34" charset="0"/>
                          <a:ea typeface="Calibri" pitchFamily="34" charset="-122"/>
                          <a:cs typeface="Calibri" pitchFamily="34" charset="-120"/>
                        </a:rPr>
                        <a:t>0.0461</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0.0051</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0.0022</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0.0013</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c>
                  <a:txBody>
                    <a:bodyPr/>
                    <a:lstStyle/>
                    <a:p>
                      <a:pPr algn="ctr" indent="0" marL="0">
                        <a:buNone/>
                      </a:pPr>
                      <a:r>
                        <a:rPr lang="en-US" sz="850" dirty="0">
                          <a:solidFill>
                            <a:srgbClr val="C8D8E8"/>
                          </a:solidFill>
                          <a:latin typeface="Calibri" pitchFamily="34" charset="0"/>
                          <a:ea typeface="Calibri" pitchFamily="34" charset="-122"/>
                          <a:cs typeface="Calibri" pitchFamily="34" charset="-120"/>
                        </a:rPr>
                        <a:t>0.0006</a:t>
                      </a:r>
                      <a:endParaRPr lang="en-US" sz="850" dirty="0">
                        <a:latin typeface="Calibri" charset="0"/>
                        <a:ea typeface="Calibri" charset="0"/>
                        <a:cs typeface="Calibr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0D2137"/>
                    </a:solidFill>
                  </a:tcPr>
                </a:tc>
              </a:tr>
            </a:tbl>
          </a:graphicData>
        </a:graphic>
      </p:graphicFrame>
      <p:sp>
        <p:nvSpPr>
          <p:cNvPr id="58" name="Text 55"/>
          <p:cNvSpPr/>
          <p:nvPr/>
        </p:nvSpPr>
        <p:spPr>
          <a:xfrm>
            <a:off x="4251960" y="3794760"/>
            <a:ext cx="4343400" cy="347472"/>
          </a:xfrm>
          <a:prstGeom prst="rect">
            <a:avLst/>
          </a:prstGeom>
          <a:noFill/>
          <a:ln/>
        </p:spPr>
        <p:txBody>
          <a:bodyPr wrap="square" lIns="0" tIns="0" rIns="0" bIns="0" rtlCol="0" anchor="ctr"/>
          <a:lstStyle/>
          <a:p>
            <a:pPr indent="0" marL="0">
              <a:lnSpc>
                <a:spcPct val="125000"/>
              </a:lnSpc>
              <a:buNone/>
            </a:pPr>
            <a:r>
              <a:rPr lang="en-US" sz="900" dirty="0">
                <a:solidFill>
                  <a:srgbClr val="C8D8E8"/>
                </a:solidFill>
                <a:latin typeface="Calibri" pitchFamily="34" charset="0"/>
                <a:ea typeface="Calibri" pitchFamily="34" charset="-122"/>
                <a:cs typeface="Calibri" pitchFamily="34" charset="-120"/>
              </a:rPr>
              <a:t>Stem gradient 8–10× higher than layer1. Layer4 stabilized earliest — mirrors Track 1's layer selection finding.</a:t>
            </a:r>
            <a:endParaRPr lang="en-US" sz="900" dirty="0"/>
          </a:p>
        </p:txBody>
      </p:sp>
      <p:sp>
        <p:nvSpPr>
          <p:cNvPr id="59" name="Text 56"/>
          <p:cNvSpPr/>
          <p:nvPr/>
        </p:nvSpPr>
        <p:spPr>
          <a:xfrm>
            <a:off x="4251960" y="4224528"/>
            <a:ext cx="4343400" cy="256032"/>
          </a:xfrm>
          <a:prstGeom prst="rect">
            <a:avLst/>
          </a:prstGeom>
          <a:noFill/>
          <a:ln/>
        </p:spPr>
        <p:txBody>
          <a:bodyPr wrap="square" lIns="0" tIns="0" rIns="0" bIns="0" rtlCol="0" anchor="ctr"/>
          <a:lstStyle/>
          <a:p>
            <a:pPr indent="0" marL="0">
              <a:buNone/>
            </a:pPr>
            <a:r>
              <a:rPr lang="en-US" sz="1100" b="1" i="1" dirty="0">
                <a:solidFill>
                  <a:srgbClr val="7A9BB5"/>
                </a:solidFill>
                <a:latin typeface="Calibri" pitchFamily="34" charset="0"/>
                <a:ea typeface="Calibri" pitchFamily="34" charset="-122"/>
                <a:cs typeface="Calibri" pitchFamily="34" charset="-120"/>
              </a:rPr>
              <a:t>Experiment log: open.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3200" b="1" dirty="0">
                <a:solidFill>
                  <a:srgbClr val="02C39A"/>
                </a:solidFill>
                <a:latin typeface="Calibri" pitchFamily="34" charset="0"/>
                <a:ea typeface="Calibri" pitchFamily="34" charset="-122"/>
                <a:cs typeface="Calibri" pitchFamily="34" charset="-120"/>
              </a:rPr>
              <a:t>05  What's Next</a:t>
            </a:r>
            <a:endParaRPr lang="en-US" sz="3200" dirty="0"/>
          </a:p>
        </p:txBody>
      </p:sp>
      <p:sp>
        <p:nvSpPr>
          <p:cNvPr id="3" name="Shape 1"/>
          <p:cNvSpPr/>
          <p:nvPr/>
        </p:nvSpPr>
        <p:spPr>
          <a:xfrm>
            <a:off x="457200" y="822960"/>
            <a:ext cx="8229600" cy="27432"/>
          </a:xfrm>
          <a:prstGeom prst="rect">
            <a:avLst/>
          </a:prstGeom>
          <a:solidFill>
            <a:srgbClr val="028090"/>
          </a:solidFill>
          <a:ln w="12700">
            <a:solidFill>
              <a:srgbClr val="028090"/>
            </a:solidFill>
            <a:prstDash val="solid"/>
          </a:ln>
        </p:spPr>
      </p:sp>
      <p:sp>
        <p:nvSpPr>
          <p:cNvPr id="4" name="Shape 2"/>
          <p:cNvSpPr/>
          <p:nvPr/>
        </p:nvSpPr>
        <p:spPr>
          <a:xfrm>
            <a:off x="7955280" y="182880"/>
            <a:ext cx="914400" cy="914400"/>
          </a:xfrm>
          <a:prstGeom prst="ellipse">
            <a:avLst/>
          </a:prstGeom>
          <a:solidFill>
            <a:srgbClr val="112840"/>
          </a:solidFill>
          <a:ln w="12700">
            <a:solidFill>
              <a:srgbClr val="028090"/>
            </a:solidFill>
            <a:prstDash val="solid"/>
          </a:ln>
        </p:spPr>
      </p:sp>
      <p:sp>
        <p:nvSpPr>
          <p:cNvPr id="5" name="Text 3"/>
          <p:cNvSpPr/>
          <p:nvPr/>
        </p:nvSpPr>
        <p:spPr>
          <a:xfrm>
            <a:off x="7955280" y="256032"/>
            <a:ext cx="914400" cy="777240"/>
          </a:xfrm>
          <a:prstGeom prst="rect">
            <a:avLst/>
          </a:prstGeom>
          <a:noFill/>
          <a:ln/>
        </p:spPr>
        <p:txBody>
          <a:bodyPr wrap="square" lIns="0" tIns="0" rIns="0" bIns="0" rtlCol="0" anchor="ctr"/>
          <a:lstStyle/>
          <a:p>
            <a:pPr algn="ct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6" name="Shape 4"/>
          <p:cNvSpPr/>
          <p:nvPr/>
        </p:nvSpPr>
        <p:spPr>
          <a:xfrm>
            <a:off x="457200" y="1005840"/>
            <a:ext cx="8412480" cy="841248"/>
          </a:xfrm>
          <a:prstGeom prst="rect">
            <a:avLst/>
          </a:prstGeom>
          <a:solidFill>
            <a:srgbClr val="112840"/>
          </a:solidFill>
          <a:ln w="12700">
            <a:solidFill>
              <a:srgbClr val="028090"/>
            </a:solidFill>
            <a:prstDash val="solid"/>
          </a:ln>
          <a:effectLst>
            <a:outerShdw sx="100000" sy="100000" kx="0" ky="0" algn="bl" rotWithShape="0" blurRad="76200" dist="25400" dir="8100000">
              <a:srgbClr val="000000">
                <a:alpha val="20000"/>
              </a:srgbClr>
            </a:outerShdw>
          </a:effectLst>
        </p:spPr>
      </p:sp>
      <p:sp>
        <p:nvSpPr>
          <p:cNvPr id="7" name="Text 5"/>
          <p:cNvSpPr/>
          <p:nvPr/>
        </p:nvSpPr>
        <p:spPr>
          <a:xfrm>
            <a:off x="548640" y="1051560"/>
            <a:ext cx="502920" cy="502920"/>
          </a:xfrm>
          <a:prstGeom prst="rect">
            <a:avLst/>
          </a:prstGeom>
          <a:noFill/>
          <a:ln/>
        </p:spPr>
        <p:txBody>
          <a:bodyPr wrap="square" lIns="0" tIns="0" rIns="0" bIns="0" rtlCol="0" anchor="ctr"/>
          <a:lstStyle/>
          <a:p>
            <a:pPr indent="0" marL="0">
              <a:buNone/>
            </a:pPr>
            <a:r>
              <a:rPr lang="en-US" sz="2200" b="1" dirty="0">
                <a:solidFill>
                  <a:srgbClr val="028090"/>
                </a:solidFill>
                <a:latin typeface="Calibri" pitchFamily="34" charset="0"/>
                <a:ea typeface="Calibri" pitchFamily="34" charset="-122"/>
                <a:cs typeface="Calibri" pitchFamily="34" charset="-120"/>
              </a:rPr>
              <a:t>01</a:t>
            </a:r>
            <a:endParaRPr lang="en-US" sz="2200" dirty="0"/>
          </a:p>
        </p:txBody>
      </p:sp>
      <p:sp>
        <p:nvSpPr>
          <p:cNvPr id="8" name="Shape 6"/>
          <p:cNvSpPr/>
          <p:nvPr/>
        </p:nvSpPr>
        <p:spPr>
          <a:xfrm>
            <a:off x="1115568" y="1078992"/>
            <a:ext cx="27432" cy="640080"/>
          </a:xfrm>
          <a:prstGeom prst="rect">
            <a:avLst/>
          </a:prstGeom>
          <a:solidFill>
            <a:srgbClr val="028090"/>
          </a:solidFill>
          <a:ln w="12700">
            <a:solidFill>
              <a:srgbClr val="028090"/>
            </a:solidFill>
            <a:prstDash val="solid"/>
          </a:ln>
        </p:spPr>
      </p:sp>
      <p:sp>
        <p:nvSpPr>
          <p:cNvPr id="9" name="Text 7"/>
          <p:cNvSpPr/>
          <p:nvPr/>
        </p:nvSpPr>
        <p:spPr>
          <a:xfrm>
            <a:off x="1261872" y="1060704"/>
            <a:ext cx="740664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Gradient monitoring — rerun both tracks</a:t>
            </a:r>
            <a:endParaRPr lang="en-US" sz="1200" dirty="0"/>
          </a:p>
        </p:txBody>
      </p:sp>
      <p:sp>
        <p:nvSpPr>
          <p:cNvPr id="10" name="Text 8"/>
          <p:cNvSpPr/>
          <p:nvPr/>
        </p:nvSpPr>
        <p:spPr>
          <a:xfrm>
            <a:off x="1261872" y="1325880"/>
            <a:ext cx="7406640" cy="45720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Add gradient logging to S7, S8a/b, S10, S11 (Track 1) and Phase 1–3 (Track 2). Compare which layers were most active in upscaled vs. native 32px processing — directly.</a:t>
            </a:r>
            <a:endParaRPr lang="en-US" sz="950" dirty="0"/>
          </a:p>
        </p:txBody>
      </p:sp>
      <p:sp>
        <p:nvSpPr>
          <p:cNvPr id="11" name="Shape 9"/>
          <p:cNvSpPr/>
          <p:nvPr/>
        </p:nvSpPr>
        <p:spPr>
          <a:xfrm>
            <a:off x="457200" y="1965960"/>
            <a:ext cx="8412480" cy="841248"/>
          </a:xfrm>
          <a:prstGeom prst="rect">
            <a:avLst/>
          </a:prstGeom>
          <a:solidFill>
            <a:srgbClr val="112840"/>
          </a:solidFill>
          <a:ln w="12700">
            <a:solidFill>
              <a:srgbClr val="00A896"/>
            </a:solidFill>
            <a:prstDash val="solid"/>
          </a:ln>
          <a:effectLst>
            <a:outerShdw sx="100000" sy="100000" kx="0" ky="0" algn="bl" rotWithShape="0" blurRad="76200" dist="25400" dir="8100000">
              <a:srgbClr val="000000">
                <a:alpha val="20000"/>
              </a:srgbClr>
            </a:outerShdw>
          </a:effectLst>
        </p:spPr>
      </p:sp>
      <p:sp>
        <p:nvSpPr>
          <p:cNvPr id="12" name="Text 10"/>
          <p:cNvSpPr/>
          <p:nvPr/>
        </p:nvSpPr>
        <p:spPr>
          <a:xfrm>
            <a:off x="548640" y="2011680"/>
            <a:ext cx="502920" cy="502920"/>
          </a:xfrm>
          <a:prstGeom prst="rect">
            <a:avLst/>
          </a:prstGeom>
          <a:noFill/>
          <a:ln/>
        </p:spPr>
        <p:txBody>
          <a:bodyPr wrap="square" lIns="0" tIns="0" rIns="0" bIns="0" rtlCol="0" anchor="ctr"/>
          <a:lstStyle/>
          <a:p>
            <a:pPr indent="0" marL="0">
              <a:buNone/>
            </a:pPr>
            <a:r>
              <a:rPr lang="en-US" sz="2200" b="1" dirty="0">
                <a:solidFill>
                  <a:srgbClr val="00A896"/>
                </a:solidFill>
                <a:latin typeface="Calibri" pitchFamily="34" charset="0"/>
                <a:ea typeface="Calibri" pitchFamily="34" charset="-122"/>
                <a:cs typeface="Calibri" pitchFamily="34" charset="-120"/>
              </a:rPr>
              <a:t>02</a:t>
            </a:r>
            <a:endParaRPr lang="en-US" sz="2200" dirty="0"/>
          </a:p>
        </p:txBody>
      </p:sp>
      <p:sp>
        <p:nvSpPr>
          <p:cNvPr id="13" name="Shape 11"/>
          <p:cNvSpPr/>
          <p:nvPr/>
        </p:nvSpPr>
        <p:spPr>
          <a:xfrm>
            <a:off x="1115568" y="2039112"/>
            <a:ext cx="27432" cy="640080"/>
          </a:xfrm>
          <a:prstGeom prst="rect">
            <a:avLst/>
          </a:prstGeom>
          <a:solidFill>
            <a:srgbClr val="00A896"/>
          </a:solidFill>
          <a:ln w="12700">
            <a:solidFill>
              <a:srgbClr val="00A896"/>
            </a:solidFill>
            <a:prstDash val="solid"/>
          </a:ln>
        </p:spPr>
      </p:sp>
      <p:sp>
        <p:nvSpPr>
          <p:cNvPr id="14" name="Text 12"/>
          <p:cNvSpPr/>
          <p:nvPr/>
        </p:nvSpPr>
        <p:spPr>
          <a:xfrm>
            <a:off x="1261872" y="2020824"/>
            <a:ext cx="7406640" cy="256032"/>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Gradient-informed selective retraining</a:t>
            </a:r>
            <a:endParaRPr lang="en-US" sz="1200" dirty="0"/>
          </a:p>
        </p:txBody>
      </p:sp>
      <p:sp>
        <p:nvSpPr>
          <p:cNvPr id="15" name="Text 13"/>
          <p:cNvSpPr/>
          <p:nvPr/>
        </p:nvSpPr>
        <p:spPr>
          <a:xfrm>
            <a:off x="1261872" y="2286000"/>
            <a:ext cx="7406640" cy="45720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Track 1 — S13: progressive unfreezing layer3 → layer3+4 → full at 50k scale.</a:t>
            </a:r>
            <a:endParaRPr lang="en-US" sz="950" dirty="0"/>
          </a:p>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Track 2 — Unfreeze stem + layer1 at full 50k; these showed highest gradient activity.</a:t>
            </a:r>
            <a:endParaRPr lang="en-US" sz="950" dirty="0"/>
          </a:p>
        </p:txBody>
      </p:sp>
      <p:sp>
        <p:nvSpPr>
          <p:cNvPr id="16" name="Shape 14"/>
          <p:cNvSpPr/>
          <p:nvPr/>
        </p:nvSpPr>
        <p:spPr>
          <a:xfrm>
            <a:off x="457200" y="2926080"/>
            <a:ext cx="8412480" cy="841248"/>
          </a:xfrm>
          <a:prstGeom prst="rect">
            <a:avLst/>
          </a:prstGeom>
          <a:solidFill>
            <a:srgbClr val="112840"/>
          </a:solidFill>
          <a:ln w="12700">
            <a:solidFill>
              <a:srgbClr val="02C39A"/>
            </a:solidFill>
            <a:prstDash val="solid"/>
          </a:ln>
          <a:effectLst>
            <a:outerShdw sx="100000" sy="100000" kx="0" ky="0" algn="bl" rotWithShape="0" blurRad="76200" dist="25400" dir="8100000">
              <a:srgbClr val="000000">
                <a:alpha val="20000"/>
              </a:srgbClr>
            </a:outerShdw>
          </a:effectLst>
        </p:spPr>
      </p:sp>
      <p:sp>
        <p:nvSpPr>
          <p:cNvPr id="17" name="Text 15"/>
          <p:cNvSpPr/>
          <p:nvPr/>
        </p:nvSpPr>
        <p:spPr>
          <a:xfrm>
            <a:off x="548640" y="2971800"/>
            <a:ext cx="502920" cy="502920"/>
          </a:xfrm>
          <a:prstGeom prst="rect">
            <a:avLst/>
          </a:prstGeom>
          <a:noFill/>
          <a:ln/>
        </p:spPr>
        <p:txBody>
          <a:bodyPr wrap="square" lIns="0" tIns="0" rIns="0" bIns="0" rtlCol="0" anchor="ctr"/>
          <a:lstStyle/>
          <a:p>
            <a:pPr indent="0" marL="0">
              <a:buNone/>
            </a:pPr>
            <a:r>
              <a:rPr lang="en-US" sz="2200" b="1" dirty="0">
                <a:solidFill>
                  <a:srgbClr val="02C39A"/>
                </a:solidFill>
                <a:latin typeface="Calibri" pitchFamily="34" charset="0"/>
                <a:ea typeface="Calibri" pitchFamily="34" charset="-122"/>
                <a:cs typeface="Calibri" pitchFamily="34" charset="-120"/>
              </a:rPr>
              <a:t>03</a:t>
            </a:r>
            <a:endParaRPr lang="en-US" sz="2200" dirty="0"/>
          </a:p>
        </p:txBody>
      </p:sp>
      <p:sp>
        <p:nvSpPr>
          <p:cNvPr id="18" name="Shape 16"/>
          <p:cNvSpPr/>
          <p:nvPr/>
        </p:nvSpPr>
        <p:spPr>
          <a:xfrm>
            <a:off x="1115568" y="2999232"/>
            <a:ext cx="27432" cy="640080"/>
          </a:xfrm>
          <a:prstGeom prst="rect">
            <a:avLst/>
          </a:prstGeom>
          <a:solidFill>
            <a:srgbClr val="02C39A"/>
          </a:solidFill>
          <a:ln w="12700">
            <a:solidFill>
              <a:srgbClr val="02C39A"/>
            </a:solidFill>
            <a:prstDash val="solid"/>
          </a:ln>
        </p:spPr>
      </p:sp>
      <p:sp>
        <p:nvSpPr>
          <p:cNvPr id="19" name="Text 17"/>
          <p:cNvSpPr/>
          <p:nvPr/>
        </p:nvSpPr>
        <p:spPr>
          <a:xfrm>
            <a:off x="1261872" y="2980944"/>
            <a:ext cx="7406640" cy="256032"/>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Batch size as a variable</a:t>
            </a:r>
            <a:endParaRPr lang="en-US" sz="1200" dirty="0"/>
          </a:p>
        </p:txBody>
      </p:sp>
      <p:sp>
        <p:nvSpPr>
          <p:cNvPr id="20" name="Text 18"/>
          <p:cNvSpPr/>
          <p:nvPr/>
        </p:nvSpPr>
        <p:spPr>
          <a:xfrm>
            <a:off x="1261872" y="3246120"/>
            <a:ext cx="7406640" cy="45720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Observe differences in layer learning rates across batch sizes. Does batch size influence which layers adapt fastest?</a:t>
            </a:r>
            <a:endParaRPr lang="en-US" sz="950" dirty="0"/>
          </a:p>
        </p:txBody>
      </p:sp>
      <p:sp>
        <p:nvSpPr>
          <p:cNvPr id="21" name="Shape 19"/>
          <p:cNvSpPr/>
          <p:nvPr/>
        </p:nvSpPr>
        <p:spPr>
          <a:xfrm>
            <a:off x="457200" y="3886200"/>
            <a:ext cx="8412480" cy="841248"/>
          </a:xfrm>
          <a:prstGeom prst="rect">
            <a:avLst/>
          </a:prstGeom>
          <a:solidFill>
            <a:srgbClr val="112840"/>
          </a:solidFill>
          <a:ln w="12700">
            <a:solidFill>
              <a:srgbClr val="F4A261"/>
            </a:solidFill>
            <a:prstDash val="solid"/>
          </a:ln>
          <a:effectLst>
            <a:outerShdw sx="100000" sy="100000" kx="0" ky="0" algn="bl" rotWithShape="0" blurRad="76200" dist="25400" dir="8100000">
              <a:srgbClr val="000000">
                <a:alpha val="20000"/>
              </a:srgbClr>
            </a:outerShdw>
          </a:effectLst>
        </p:spPr>
      </p:sp>
      <p:sp>
        <p:nvSpPr>
          <p:cNvPr id="22" name="Text 20"/>
          <p:cNvSpPr/>
          <p:nvPr/>
        </p:nvSpPr>
        <p:spPr>
          <a:xfrm>
            <a:off x="548640" y="3931920"/>
            <a:ext cx="502920" cy="50292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04</a:t>
            </a:r>
            <a:endParaRPr lang="en-US" sz="2200" dirty="0"/>
          </a:p>
        </p:txBody>
      </p:sp>
      <p:sp>
        <p:nvSpPr>
          <p:cNvPr id="23" name="Shape 21"/>
          <p:cNvSpPr/>
          <p:nvPr/>
        </p:nvSpPr>
        <p:spPr>
          <a:xfrm>
            <a:off x="1115568" y="3959352"/>
            <a:ext cx="27432" cy="640080"/>
          </a:xfrm>
          <a:prstGeom prst="rect">
            <a:avLst/>
          </a:prstGeom>
          <a:solidFill>
            <a:srgbClr val="F4A261"/>
          </a:solidFill>
          <a:ln w="12700">
            <a:solidFill>
              <a:srgbClr val="F4A261"/>
            </a:solidFill>
            <a:prstDash val="solid"/>
          </a:ln>
        </p:spPr>
      </p:sp>
      <p:sp>
        <p:nvSpPr>
          <p:cNvPr id="24" name="Text 22"/>
          <p:cNvSpPr/>
          <p:nvPr/>
        </p:nvSpPr>
        <p:spPr>
          <a:xfrm>
            <a:off x="1261872" y="3941064"/>
            <a:ext cx="7406640" cy="256032"/>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Open question</a:t>
            </a:r>
            <a:endParaRPr lang="en-US" sz="1200" dirty="0"/>
          </a:p>
        </p:txBody>
      </p:sp>
      <p:sp>
        <p:nvSpPr>
          <p:cNvPr id="25" name="Text 23"/>
          <p:cNvSpPr/>
          <p:nvPr/>
        </p:nvSpPr>
        <p:spPr>
          <a:xfrm>
            <a:off x="1261872" y="4206240"/>
            <a:ext cx="7406640" cy="457200"/>
          </a:xfrm>
          <a:prstGeom prst="rect">
            <a:avLst/>
          </a:prstGeom>
          <a:noFill/>
          <a:ln/>
        </p:spPr>
        <p:txBody>
          <a:bodyPr wrap="square" lIns="0" tIns="0" rIns="0" bIns="0" rtlCol="0" anchor="ctr"/>
          <a:lstStyle/>
          <a:p>
            <a:pPr indent="0" marL="0">
              <a:lnSpc>
                <a:spcPct val="120000"/>
              </a:lnSpc>
              <a:buNone/>
            </a:pPr>
            <a:r>
              <a:rPr lang="en-US" sz="950" dirty="0">
                <a:solidFill>
                  <a:srgbClr val="C8D8E8"/>
                </a:solidFill>
                <a:latin typeface="Calibri" pitchFamily="34" charset="0"/>
                <a:ea typeface="Calibri" pitchFamily="34" charset="-122"/>
                <a:cs typeface="Calibri" pitchFamily="34" charset="-120"/>
              </a:rPr>
              <a:t>Can gradient monitoring replace pretrained priors as the freeze-boundary signal? If so — what does a gradient-informed transfer learning strategy look like?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CIFAR-10 Two-Track Classification Study</dc:title>
  <dc:subject>PptxGenJS Presentation</dc:subject>
  <dc:creator>Zachary</dc:creator>
  <cp:lastModifiedBy>Zachary</cp:lastModifiedBy>
  <cp:revision>1</cp:revision>
  <dcterms:created xsi:type="dcterms:W3CDTF">2026-05-26T16:04:21Z</dcterms:created>
  <dcterms:modified xsi:type="dcterms:W3CDTF">2026-05-26T16:04:21Z</dcterms:modified>
</cp:coreProperties>
</file>